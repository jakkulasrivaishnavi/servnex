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4551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rot="1800000">
            <a:off x="7132320" y="0"/>
            <a:ext cx="2286000" cy="2286000"/>
          </a:xfrm>
          <a:prstGeom prst="rect">
            <a:avLst/>
          </a:prstGeom>
          <a:solidFill>
            <a:srgbClr val="2563EB">
              <a:alpha val="15000"/>
            </a:srgbClr>
          </a:solidFill>
          <a:ln w="12700">
            <a:solidFill>
              <a:srgbClr val="2563EB"/>
            </a:solidFill>
            <a:prstDash val="solid"/>
          </a:ln>
        </p:spPr>
      </p:sp>
      <p:sp>
        <p:nvSpPr>
          <p:cNvPr id="3" name="Shape 1"/>
          <p:cNvSpPr/>
          <p:nvPr/>
        </p:nvSpPr>
        <p:spPr>
          <a:xfrm>
            <a:off x="-365760" y="3474720"/>
            <a:ext cx="1463040" cy="1463040"/>
          </a:xfrm>
          <a:prstGeom prst="ellipse">
            <a:avLst/>
          </a:prstGeom>
          <a:solidFill>
            <a:srgbClr val="0891B2">
              <a:alpha val="20000"/>
            </a:srgbClr>
          </a:solidFill>
          <a:ln w="12700">
            <a:solidFill>
              <a:srgbClr val="0891B2"/>
            </a:solidFill>
            <a:prstDash val="solid"/>
          </a:ln>
        </p:spPr>
      </p:sp>
      <p:sp>
        <p:nvSpPr>
          <p:cNvPr id="4" name="Shape 2"/>
          <p:cNvSpPr/>
          <p:nvPr/>
        </p:nvSpPr>
        <p:spPr>
          <a:xfrm rot="2700000">
            <a:off x="8412480" y="3657600"/>
            <a:ext cx="1097280" cy="1097280"/>
          </a:xfrm>
          <a:prstGeom prst="rect">
            <a:avLst/>
          </a:prstGeom>
          <a:solidFill>
            <a:srgbClr val="059669">
              <a:alpha val="18000"/>
            </a:srgbClr>
          </a:solidFill>
          <a:ln w="12700">
            <a:solidFill>
              <a:srgbClr val="059669"/>
            </a:solidFill>
            <a:prstDash val="solid"/>
          </a:ln>
        </p:spPr>
      </p:sp>
      <p:sp>
        <p:nvSpPr>
          <p:cNvPr id="5" name="Shape 3"/>
          <p:cNvSpPr/>
          <p:nvPr/>
        </p:nvSpPr>
        <p:spPr>
          <a:xfrm>
            <a:off x="457200" y="274320"/>
            <a:ext cx="1463040" cy="1463040"/>
          </a:xfrm>
          <a:prstGeom prst="ellipse">
            <a:avLst/>
          </a:prstGeom>
          <a:solidFill>
            <a:srgbClr val="1E3A8A"/>
          </a:solidFill>
          <a:ln w="25400">
            <a:solidFill>
              <a:srgbClr val="60A5FA"/>
            </a:solidFill>
            <a:prstDash val="solid"/>
          </a:ln>
        </p:spPr>
      </p:sp>
      <p:sp>
        <p:nvSpPr>
          <p:cNvPr id="6" name="Text 4"/>
          <p:cNvSpPr/>
          <p:nvPr/>
        </p:nvSpPr>
        <p:spPr>
          <a:xfrm>
            <a:off x="457200" y="402336"/>
            <a:ext cx="1463040" cy="1207008"/>
          </a:xfrm>
          <a:prstGeom prst="rect">
            <a:avLst/>
          </a:prstGeom>
          <a:noFill/>
          <a:ln/>
        </p:spPr>
        <p:txBody>
          <a:bodyPr wrap="square" rtlCol="0" anchor="ctr"/>
          <a:lstStyle/>
          <a:p>
            <a:pPr marL="0" indent="0" algn="ctr">
              <a:buNone/>
            </a:pPr>
            <a:r>
              <a:rPr lang="en-US" sz="3600" b="1" dirty="0">
                <a:solidFill>
                  <a:srgbClr val="60A5FA"/>
                </a:solidFill>
                <a:latin typeface="Arial Black" pitchFamily="34" charset="0"/>
                <a:ea typeface="Arial Black" pitchFamily="34" charset="-122"/>
                <a:cs typeface="Arial Black" pitchFamily="34" charset="-120"/>
              </a:rPr>
              <a:t>SN</a:t>
            </a:r>
            <a:endParaRPr lang="en-US" sz="3600" dirty="0"/>
          </a:p>
        </p:txBody>
      </p:sp>
      <p:sp>
        <p:nvSpPr>
          <p:cNvPr id="7" name="Text 5"/>
          <p:cNvSpPr/>
          <p:nvPr/>
        </p:nvSpPr>
        <p:spPr>
          <a:xfrm>
            <a:off x="2194560" y="347472"/>
            <a:ext cx="6400800" cy="868680"/>
          </a:xfrm>
          <a:prstGeom prst="rect">
            <a:avLst/>
          </a:prstGeom>
          <a:noFill/>
          <a:ln/>
        </p:spPr>
        <p:txBody>
          <a:bodyPr wrap="square" lIns="0" tIns="0" rIns="0" bIns="0" rtlCol="0" anchor="ctr"/>
          <a:lstStyle/>
          <a:p>
            <a:pPr marL="0" indent="0">
              <a:buNone/>
            </a:pPr>
            <a:r>
              <a:rPr lang="en-US" sz="5200" b="1" dirty="0">
                <a:solidFill>
                  <a:srgbClr val="FFFFFF"/>
                </a:solidFill>
                <a:latin typeface="Arial Black" pitchFamily="34" charset="0"/>
                <a:ea typeface="Arial Black" pitchFamily="34" charset="-122"/>
                <a:cs typeface="Arial Black" pitchFamily="34" charset="-120"/>
              </a:rPr>
              <a:t>ServNex</a:t>
            </a:r>
            <a:endParaRPr lang="en-US" sz="5200" dirty="0"/>
          </a:p>
        </p:txBody>
      </p:sp>
      <p:sp>
        <p:nvSpPr>
          <p:cNvPr id="8" name="Text 6"/>
          <p:cNvSpPr/>
          <p:nvPr/>
        </p:nvSpPr>
        <p:spPr>
          <a:xfrm>
            <a:off x="2194560" y="1170432"/>
            <a:ext cx="6400800" cy="384048"/>
          </a:xfrm>
          <a:prstGeom prst="rect">
            <a:avLst/>
          </a:prstGeom>
          <a:noFill/>
          <a:ln/>
        </p:spPr>
        <p:txBody>
          <a:bodyPr wrap="square" lIns="0" tIns="0" rIns="0" bIns="0" rtlCol="0" anchor="ctr"/>
          <a:lstStyle/>
          <a:p>
            <a:pPr marL="0" indent="0">
              <a:buNone/>
            </a:pPr>
            <a:r>
              <a:rPr lang="en-US" sz="1300" kern="0" spc="400" dirty="0">
                <a:solidFill>
                  <a:srgbClr val="93C5FD"/>
                </a:solidFill>
                <a:latin typeface="Calibri" pitchFamily="34" charset="0"/>
                <a:ea typeface="Calibri" pitchFamily="34" charset="-122"/>
                <a:cs typeface="Calibri" pitchFamily="34" charset="-120"/>
              </a:rPr>
              <a:t>LOCAL SERVICES PLATFORM</a:t>
            </a:r>
            <a:endParaRPr lang="en-US" sz="1300" dirty="0"/>
          </a:p>
        </p:txBody>
      </p:sp>
      <p:sp>
        <p:nvSpPr>
          <p:cNvPr id="9" name="Shape 7"/>
          <p:cNvSpPr/>
          <p:nvPr/>
        </p:nvSpPr>
        <p:spPr>
          <a:xfrm>
            <a:off x="457200" y="1828800"/>
            <a:ext cx="8229600" cy="27432"/>
          </a:xfrm>
          <a:prstGeom prst="rect">
            <a:avLst/>
          </a:prstGeom>
          <a:solidFill>
            <a:srgbClr val="4A6BFF">
              <a:alpha val="60000"/>
            </a:srgbClr>
          </a:solidFill>
          <a:ln w="12700">
            <a:solidFill>
              <a:srgbClr val="4A6BFF"/>
            </a:solidFill>
            <a:prstDash val="solid"/>
          </a:ln>
        </p:spPr>
      </p:sp>
      <p:sp>
        <p:nvSpPr>
          <p:cNvPr id="10" name="Text 8"/>
          <p:cNvSpPr/>
          <p:nvPr/>
        </p:nvSpPr>
        <p:spPr>
          <a:xfrm>
            <a:off x="457200" y="1938528"/>
            <a:ext cx="8229600" cy="713232"/>
          </a:xfrm>
          <a:prstGeom prst="rect">
            <a:avLst/>
          </a:prstGeom>
          <a:noFill/>
          <a:ln/>
        </p:spPr>
        <p:txBody>
          <a:bodyPr wrap="square" rtlCol="0" anchor="ctr"/>
          <a:lstStyle/>
          <a:p>
            <a:pPr marL="0" indent="0" algn="ctr">
              <a:buNone/>
            </a:pPr>
            <a:r>
              <a:rPr lang="en-US" sz="1500" i="1" dirty="0">
                <a:solidFill>
                  <a:srgbClr val="CBD5E1"/>
                </a:solidFill>
                <a:latin typeface="Calibri" pitchFamily="34" charset="0"/>
                <a:ea typeface="Calibri" pitchFamily="34" charset="-122"/>
                <a:cs typeface="Calibri" pitchFamily="34" charset="-120"/>
              </a:rPr>
              <a:t>Connecting Users with Verified Local Professionals</a:t>
            </a:r>
            <a:endParaRPr lang="en-US" sz="1500" dirty="0"/>
          </a:p>
          <a:p>
            <a:pPr marL="0" indent="0" algn="ctr">
              <a:buNone/>
            </a:pPr>
            <a:r>
              <a:rPr lang="en-US" sz="1500" i="1" dirty="0">
                <a:solidFill>
                  <a:srgbClr val="CBD5E1"/>
                </a:solidFill>
                <a:latin typeface="Calibri" pitchFamily="34" charset="0"/>
                <a:ea typeface="Calibri" pitchFamily="34" charset="-122"/>
                <a:cs typeface="Calibri" pitchFamily="34" charset="-120"/>
              </a:rPr>
              <a:t>Book  •  Chat  •  Track  •  Pay  —  All in One Place</a:t>
            </a:r>
            <a:endParaRPr lang="en-US" sz="1500" dirty="0"/>
          </a:p>
        </p:txBody>
      </p:sp>
      <p:sp>
        <p:nvSpPr>
          <p:cNvPr id="11" name="Shape 9"/>
          <p:cNvSpPr/>
          <p:nvPr/>
        </p:nvSpPr>
        <p:spPr>
          <a:xfrm>
            <a:off x="320040" y="2834640"/>
            <a:ext cx="2057400" cy="1664208"/>
          </a:xfrm>
          <a:prstGeom prst="rect">
            <a:avLst/>
          </a:prstGeom>
          <a:solidFill>
            <a:srgbClr val="162040"/>
          </a:solidFill>
          <a:ln w="6350">
            <a:solidFill>
              <a:srgbClr val="2A3F6F"/>
            </a:solidFill>
            <a:prstDash val="solid"/>
          </a:ln>
          <a:effectLst>
            <a:outerShdw blurRad="101600" dist="25400" dir="8100000" algn="bl" rotWithShape="0">
              <a:srgbClr val="94A3B8">
                <a:alpha val="25000"/>
              </a:srgbClr>
            </a:outerShdw>
          </a:effectLst>
        </p:spPr>
      </p:sp>
      <p:sp>
        <p:nvSpPr>
          <p:cNvPr id="12" name="Shape 10"/>
          <p:cNvSpPr/>
          <p:nvPr/>
        </p:nvSpPr>
        <p:spPr>
          <a:xfrm>
            <a:off x="1097280" y="2907792"/>
            <a:ext cx="502920" cy="502920"/>
          </a:xfrm>
          <a:prstGeom prst="ellipse">
            <a:avLst/>
          </a:prstGeom>
          <a:solidFill>
            <a:srgbClr val="3B82F6"/>
          </a:solidFill>
          <a:ln/>
        </p:spPr>
      </p:sp>
      <p:sp>
        <p:nvSpPr>
          <p:cNvPr id="13" name="Text 11"/>
          <p:cNvSpPr/>
          <p:nvPr/>
        </p:nvSpPr>
        <p:spPr>
          <a:xfrm>
            <a:off x="1097280" y="2944368"/>
            <a:ext cx="502920" cy="429768"/>
          </a:xfrm>
          <a:prstGeom prst="rect">
            <a:avLst/>
          </a:prstGeom>
          <a:noFill/>
          <a:ln/>
        </p:spPr>
        <p:txBody>
          <a:bodyPr wrap="square"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1</a:t>
            </a:r>
            <a:endParaRPr lang="en-US" sz="1800" dirty="0"/>
          </a:p>
        </p:txBody>
      </p:sp>
      <p:sp>
        <p:nvSpPr>
          <p:cNvPr id="14" name="Text 12"/>
          <p:cNvSpPr/>
          <p:nvPr/>
        </p:nvSpPr>
        <p:spPr>
          <a:xfrm>
            <a:off x="411480" y="3493008"/>
            <a:ext cx="187452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Team Member 1</a:t>
            </a:r>
            <a:endParaRPr lang="en-US" sz="1100" dirty="0"/>
          </a:p>
        </p:txBody>
      </p:sp>
      <p:sp>
        <p:nvSpPr>
          <p:cNvPr id="15" name="Text 13"/>
          <p:cNvSpPr/>
          <p:nvPr/>
        </p:nvSpPr>
        <p:spPr>
          <a:xfrm>
            <a:off x="411480" y="3749040"/>
            <a:ext cx="1874520" cy="237744"/>
          </a:xfrm>
          <a:prstGeom prst="rect">
            <a:avLst/>
          </a:prstGeom>
          <a:noFill/>
          <a:ln/>
        </p:spPr>
        <p:txBody>
          <a:bodyPr wrap="square" rtlCol="0" anchor="ctr"/>
          <a:lstStyle/>
          <a:p>
            <a:pPr marL="0" indent="0" algn="ctr">
              <a:buNone/>
            </a:pPr>
            <a:r>
              <a:rPr lang="en-US" sz="900" dirty="0">
                <a:solidFill>
                  <a:srgbClr val="3B82F6"/>
                </a:solidFill>
                <a:latin typeface="Calibri" pitchFamily="34" charset="0"/>
                <a:ea typeface="Calibri" pitchFamily="34" charset="-122"/>
                <a:cs typeface="Calibri" pitchFamily="34" charset="-120"/>
              </a:rPr>
              <a:t>Full Stack Developer</a:t>
            </a:r>
            <a:endParaRPr lang="en-US" sz="900" dirty="0"/>
          </a:p>
        </p:txBody>
      </p:sp>
      <p:sp>
        <p:nvSpPr>
          <p:cNvPr id="16" name="Text 14"/>
          <p:cNvSpPr/>
          <p:nvPr/>
        </p:nvSpPr>
        <p:spPr>
          <a:xfrm>
            <a:off x="411480" y="3986784"/>
            <a:ext cx="1874520" cy="201168"/>
          </a:xfrm>
          <a:prstGeom prst="rect">
            <a:avLst/>
          </a:prstGeom>
          <a:noFill/>
          <a:ln/>
        </p:spPr>
        <p:txBody>
          <a:bodyPr wrap="square" rtlCol="0" anchor="ctr"/>
          <a:lstStyle/>
          <a:p>
            <a:pPr marL="0" indent="0" algn="ctr">
              <a:buNone/>
            </a:pPr>
            <a:r>
              <a:rPr lang="en-US" sz="900" dirty="0">
                <a:solidFill>
                  <a:srgbClr val="8899BB"/>
                </a:solidFill>
                <a:latin typeface="Calibri" pitchFamily="34" charset="0"/>
                <a:ea typeface="Calibri" pitchFamily="34" charset="-122"/>
                <a:cs typeface="Calibri" pitchFamily="34" charset="-120"/>
              </a:rPr>
              <a:t>21CSE001</a:t>
            </a:r>
            <a:endParaRPr lang="en-US" sz="900" dirty="0"/>
          </a:p>
        </p:txBody>
      </p:sp>
      <p:sp>
        <p:nvSpPr>
          <p:cNvPr id="17" name="Shape 15"/>
          <p:cNvSpPr/>
          <p:nvPr/>
        </p:nvSpPr>
        <p:spPr>
          <a:xfrm>
            <a:off x="2560320" y="2834640"/>
            <a:ext cx="2057400" cy="1664208"/>
          </a:xfrm>
          <a:prstGeom prst="rect">
            <a:avLst/>
          </a:prstGeom>
          <a:solidFill>
            <a:srgbClr val="162040"/>
          </a:solidFill>
          <a:ln w="6350">
            <a:solidFill>
              <a:srgbClr val="2A3F6F"/>
            </a:solidFill>
            <a:prstDash val="solid"/>
          </a:ln>
          <a:effectLst>
            <a:outerShdw blurRad="101600" dist="25400" dir="8100000" algn="bl" rotWithShape="0">
              <a:srgbClr val="94A3B8">
                <a:alpha val="25000"/>
              </a:srgbClr>
            </a:outerShdw>
          </a:effectLst>
        </p:spPr>
      </p:sp>
      <p:sp>
        <p:nvSpPr>
          <p:cNvPr id="18" name="Shape 16"/>
          <p:cNvSpPr/>
          <p:nvPr/>
        </p:nvSpPr>
        <p:spPr>
          <a:xfrm>
            <a:off x="3337560" y="2907792"/>
            <a:ext cx="502920" cy="502920"/>
          </a:xfrm>
          <a:prstGeom prst="ellipse">
            <a:avLst/>
          </a:prstGeom>
          <a:solidFill>
            <a:srgbClr val="10B981"/>
          </a:solidFill>
          <a:ln/>
        </p:spPr>
      </p:sp>
      <p:sp>
        <p:nvSpPr>
          <p:cNvPr id="19" name="Text 17"/>
          <p:cNvSpPr/>
          <p:nvPr/>
        </p:nvSpPr>
        <p:spPr>
          <a:xfrm>
            <a:off x="3337560" y="2944368"/>
            <a:ext cx="502920" cy="429768"/>
          </a:xfrm>
          <a:prstGeom prst="rect">
            <a:avLst/>
          </a:prstGeom>
          <a:noFill/>
          <a:ln/>
        </p:spPr>
        <p:txBody>
          <a:bodyPr wrap="square"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2</a:t>
            </a:r>
            <a:endParaRPr lang="en-US" sz="1800" dirty="0"/>
          </a:p>
        </p:txBody>
      </p:sp>
      <p:sp>
        <p:nvSpPr>
          <p:cNvPr id="20" name="Text 18"/>
          <p:cNvSpPr/>
          <p:nvPr/>
        </p:nvSpPr>
        <p:spPr>
          <a:xfrm>
            <a:off x="2651760" y="3493008"/>
            <a:ext cx="187452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Team Member 2</a:t>
            </a:r>
            <a:endParaRPr lang="en-US" sz="1100" dirty="0"/>
          </a:p>
        </p:txBody>
      </p:sp>
      <p:sp>
        <p:nvSpPr>
          <p:cNvPr id="21" name="Text 19"/>
          <p:cNvSpPr/>
          <p:nvPr/>
        </p:nvSpPr>
        <p:spPr>
          <a:xfrm>
            <a:off x="2651760" y="3749040"/>
            <a:ext cx="1874520" cy="237744"/>
          </a:xfrm>
          <a:prstGeom prst="rect">
            <a:avLst/>
          </a:prstGeom>
          <a:noFill/>
          <a:ln/>
        </p:spPr>
        <p:txBody>
          <a:bodyPr wrap="square" rtlCol="0" anchor="ctr"/>
          <a:lstStyle/>
          <a:p>
            <a:pPr marL="0" indent="0" algn="ctr">
              <a:buNone/>
            </a:pPr>
            <a:r>
              <a:rPr lang="en-US" sz="900" dirty="0">
                <a:solidFill>
                  <a:srgbClr val="10B981"/>
                </a:solidFill>
                <a:latin typeface="Calibri" pitchFamily="34" charset="0"/>
                <a:ea typeface="Calibri" pitchFamily="34" charset="-122"/>
                <a:cs typeface="Calibri" pitchFamily="34" charset="-120"/>
              </a:rPr>
              <a:t>UI/UX Designer</a:t>
            </a:r>
            <a:endParaRPr lang="en-US" sz="900" dirty="0"/>
          </a:p>
        </p:txBody>
      </p:sp>
      <p:sp>
        <p:nvSpPr>
          <p:cNvPr id="22" name="Text 20"/>
          <p:cNvSpPr/>
          <p:nvPr/>
        </p:nvSpPr>
        <p:spPr>
          <a:xfrm>
            <a:off x="2651760" y="3986784"/>
            <a:ext cx="1874520" cy="201168"/>
          </a:xfrm>
          <a:prstGeom prst="rect">
            <a:avLst/>
          </a:prstGeom>
          <a:noFill/>
          <a:ln/>
        </p:spPr>
        <p:txBody>
          <a:bodyPr wrap="square" rtlCol="0" anchor="ctr"/>
          <a:lstStyle/>
          <a:p>
            <a:pPr marL="0" indent="0" algn="ctr">
              <a:buNone/>
            </a:pPr>
            <a:r>
              <a:rPr lang="en-US" sz="900" dirty="0">
                <a:solidFill>
                  <a:srgbClr val="8899BB"/>
                </a:solidFill>
                <a:latin typeface="Calibri" pitchFamily="34" charset="0"/>
                <a:ea typeface="Calibri" pitchFamily="34" charset="-122"/>
                <a:cs typeface="Calibri" pitchFamily="34" charset="-120"/>
              </a:rPr>
              <a:t>21CSE002</a:t>
            </a:r>
            <a:endParaRPr lang="en-US" sz="900" dirty="0"/>
          </a:p>
        </p:txBody>
      </p:sp>
      <p:sp>
        <p:nvSpPr>
          <p:cNvPr id="23" name="Shape 21"/>
          <p:cNvSpPr/>
          <p:nvPr/>
        </p:nvSpPr>
        <p:spPr>
          <a:xfrm>
            <a:off x="4800600" y="2834640"/>
            <a:ext cx="2057400" cy="1664208"/>
          </a:xfrm>
          <a:prstGeom prst="rect">
            <a:avLst/>
          </a:prstGeom>
          <a:solidFill>
            <a:srgbClr val="162040"/>
          </a:solidFill>
          <a:ln w="6350">
            <a:solidFill>
              <a:srgbClr val="2A3F6F"/>
            </a:solidFill>
            <a:prstDash val="solid"/>
          </a:ln>
          <a:effectLst>
            <a:outerShdw blurRad="101600" dist="25400" dir="8100000" algn="bl" rotWithShape="0">
              <a:srgbClr val="94A3B8">
                <a:alpha val="25000"/>
              </a:srgbClr>
            </a:outerShdw>
          </a:effectLst>
        </p:spPr>
      </p:sp>
      <p:sp>
        <p:nvSpPr>
          <p:cNvPr id="24" name="Shape 22"/>
          <p:cNvSpPr/>
          <p:nvPr/>
        </p:nvSpPr>
        <p:spPr>
          <a:xfrm>
            <a:off x="5577840" y="2907792"/>
            <a:ext cx="502920" cy="502920"/>
          </a:xfrm>
          <a:prstGeom prst="ellipse">
            <a:avLst/>
          </a:prstGeom>
          <a:solidFill>
            <a:srgbClr val="F59E0B"/>
          </a:solidFill>
          <a:ln/>
        </p:spPr>
      </p:sp>
      <p:sp>
        <p:nvSpPr>
          <p:cNvPr id="25" name="Text 23"/>
          <p:cNvSpPr/>
          <p:nvPr/>
        </p:nvSpPr>
        <p:spPr>
          <a:xfrm>
            <a:off x="5577840" y="2944368"/>
            <a:ext cx="502920" cy="429768"/>
          </a:xfrm>
          <a:prstGeom prst="rect">
            <a:avLst/>
          </a:prstGeom>
          <a:noFill/>
          <a:ln/>
        </p:spPr>
        <p:txBody>
          <a:bodyPr wrap="square"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3</a:t>
            </a:r>
            <a:endParaRPr lang="en-US" sz="1800" dirty="0"/>
          </a:p>
        </p:txBody>
      </p:sp>
      <p:sp>
        <p:nvSpPr>
          <p:cNvPr id="26" name="Text 24"/>
          <p:cNvSpPr/>
          <p:nvPr/>
        </p:nvSpPr>
        <p:spPr>
          <a:xfrm>
            <a:off x="4892040" y="3493008"/>
            <a:ext cx="187452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Team Member 3</a:t>
            </a:r>
            <a:endParaRPr lang="en-US" sz="1100" dirty="0"/>
          </a:p>
        </p:txBody>
      </p:sp>
      <p:sp>
        <p:nvSpPr>
          <p:cNvPr id="27" name="Text 25"/>
          <p:cNvSpPr/>
          <p:nvPr/>
        </p:nvSpPr>
        <p:spPr>
          <a:xfrm>
            <a:off x="4892040" y="3749040"/>
            <a:ext cx="1874520" cy="237744"/>
          </a:xfrm>
          <a:prstGeom prst="rect">
            <a:avLst/>
          </a:prstGeom>
          <a:noFill/>
          <a:ln/>
        </p:spPr>
        <p:txBody>
          <a:bodyPr wrap="square" rtlCol="0" anchor="ctr"/>
          <a:lstStyle/>
          <a:p>
            <a:pPr marL="0" indent="0" algn="ctr">
              <a:buNone/>
            </a:pPr>
            <a:r>
              <a:rPr lang="en-US" sz="900" dirty="0">
                <a:solidFill>
                  <a:srgbClr val="F59E0B"/>
                </a:solidFill>
                <a:latin typeface="Calibri" pitchFamily="34" charset="0"/>
                <a:ea typeface="Calibri" pitchFamily="34" charset="-122"/>
                <a:cs typeface="Calibri" pitchFamily="34" charset="-120"/>
              </a:rPr>
              <a:t>Backend Developer</a:t>
            </a:r>
            <a:endParaRPr lang="en-US" sz="900" dirty="0"/>
          </a:p>
        </p:txBody>
      </p:sp>
      <p:sp>
        <p:nvSpPr>
          <p:cNvPr id="28" name="Text 26"/>
          <p:cNvSpPr/>
          <p:nvPr/>
        </p:nvSpPr>
        <p:spPr>
          <a:xfrm>
            <a:off x="4892040" y="3986784"/>
            <a:ext cx="1874520" cy="201168"/>
          </a:xfrm>
          <a:prstGeom prst="rect">
            <a:avLst/>
          </a:prstGeom>
          <a:noFill/>
          <a:ln/>
        </p:spPr>
        <p:txBody>
          <a:bodyPr wrap="square" rtlCol="0" anchor="ctr"/>
          <a:lstStyle/>
          <a:p>
            <a:pPr marL="0" indent="0" algn="ctr">
              <a:buNone/>
            </a:pPr>
            <a:r>
              <a:rPr lang="en-US" sz="900" dirty="0">
                <a:solidFill>
                  <a:srgbClr val="8899BB"/>
                </a:solidFill>
                <a:latin typeface="Calibri" pitchFamily="34" charset="0"/>
                <a:ea typeface="Calibri" pitchFamily="34" charset="-122"/>
                <a:cs typeface="Calibri" pitchFamily="34" charset="-120"/>
              </a:rPr>
              <a:t>21CSE003</a:t>
            </a:r>
            <a:endParaRPr lang="en-US" sz="900" dirty="0"/>
          </a:p>
        </p:txBody>
      </p:sp>
      <p:sp>
        <p:nvSpPr>
          <p:cNvPr id="29" name="Shape 27"/>
          <p:cNvSpPr/>
          <p:nvPr/>
        </p:nvSpPr>
        <p:spPr>
          <a:xfrm>
            <a:off x="7040880" y="2834640"/>
            <a:ext cx="2057400" cy="1664208"/>
          </a:xfrm>
          <a:prstGeom prst="rect">
            <a:avLst/>
          </a:prstGeom>
          <a:solidFill>
            <a:srgbClr val="162040"/>
          </a:solidFill>
          <a:ln w="6350">
            <a:solidFill>
              <a:srgbClr val="2A3F6F"/>
            </a:solidFill>
            <a:prstDash val="solid"/>
          </a:ln>
          <a:effectLst>
            <a:outerShdw blurRad="101600" dist="25400" dir="8100000" algn="bl" rotWithShape="0">
              <a:srgbClr val="94A3B8">
                <a:alpha val="25000"/>
              </a:srgbClr>
            </a:outerShdw>
          </a:effectLst>
        </p:spPr>
      </p:sp>
      <p:sp>
        <p:nvSpPr>
          <p:cNvPr id="30" name="Shape 28"/>
          <p:cNvSpPr/>
          <p:nvPr/>
        </p:nvSpPr>
        <p:spPr>
          <a:xfrm>
            <a:off x="7818120" y="2907792"/>
            <a:ext cx="502920" cy="502920"/>
          </a:xfrm>
          <a:prstGeom prst="ellipse">
            <a:avLst/>
          </a:prstGeom>
          <a:solidFill>
            <a:srgbClr val="A78BFA"/>
          </a:solidFill>
          <a:ln/>
        </p:spPr>
      </p:sp>
      <p:sp>
        <p:nvSpPr>
          <p:cNvPr id="31" name="Text 29"/>
          <p:cNvSpPr/>
          <p:nvPr/>
        </p:nvSpPr>
        <p:spPr>
          <a:xfrm>
            <a:off x="7818120" y="2944368"/>
            <a:ext cx="502920" cy="429768"/>
          </a:xfrm>
          <a:prstGeom prst="rect">
            <a:avLst/>
          </a:prstGeom>
          <a:noFill/>
          <a:ln/>
        </p:spPr>
        <p:txBody>
          <a:bodyPr wrap="square"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4</a:t>
            </a:r>
            <a:endParaRPr lang="en-US" sz="1800" dirty="0"/>
          </a:p>
        </p:txBody>
      </p:sp>
      <p:sp>
        <p:nvSpPr>
          <p:cNvPr id="32" name="Text 30"/>
          <p:cNvSpPr/>
          <p:nvPr/>
        </p:nvSpPr>
        <p:spPr>
          <a:xfrm>
            <a:off x="7132320" y="3493008"/>
            <a:ext cx="187452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Team Member 4</a:t>
            </a:r>
            <a:endParaRPr lang="en-US" sz="1100" dirty="0"/>
          </a:p>
        </p:txBody>
      </p:sp>
      <p:sp>
        <p:nvSpPr>
          <p:cNvPr id="33" name="Text 31"/>
          <p:cNvSpPr/>
          <p:nvPr/>
        </p:nvSpPr>
        <p:spPr>
          <a:xfrm>
            <a:off x="7132320" y="3749040"/>
            <a:ext cx="1874520" cy="237744"/>
          </a:xfrm>
          <a:prstGeom prst="rect">
            <a:avLst/>
          </a:prstGeom>
          <a:noFill/>
          <a:ln/>
        </p:spPr>
        <p:txBody>
          <a:bodyPr wrap="square" rtlCol="0" anchor="ctr"/>
          <a:lstStyle/>
          <a:p>
            <a:pPr marL="0" indent="0" algn="ctr">
              <a:buNone/>
            </a:pPr>
            <a:r>
              <a:rPr lang="en-US" sz="900" dirty="0">
                <a:solidFill>
                  <a:srgbClr val="A78BFA"/>
                </a:solidFill>
                <a:latin typeface="Calibri" pitchFamily="34" charset="0"/>
                <a:ea typeface="Calibri" pitchFamily="34" charset="-122"/>
                <a:cs typeface="Calibri" pitchFamily="34" charset="-120"/>
              </a:rPr>
              <a:t>Project Manager</a:t>
            </a:r>
            <a:endParaRPr lang="en-US" sz="900" dirty="0"/>
          </a:p>
        </p:txBody>
      </p:sp>
      <p:sp>
        <p:nvSpPr>
          <p:cNvPr id="34" name="Text 32"/>
          <p:cNvSpPr/>
          <p:nvPr/>
        </p:nvSpPr>
        <p:spPr>
          <a:xfrm>
            <a:off x="7132320" y="3986784"/>
            <a:ext cx="1874520" cy="201168"/>
          </a:xfrm>
          <a:prstGeom prst="rect">
            <a:avLst/>
          </a:prstGeom>
          <a:noFill/>
          <a:ln/>
        </p:spPr>
        <p:txBody>
          <a:bodyPr wrap="square" rtlCol="0" anchor="ctr"/>
          <a:lstStyle/>
          <a:p>
            <a:pPr marL="0" indent="0" algn="ctr">
              <a:buNone/>
            </a:pPr>
            <a:r>
              <a:rPr lang="en-US" sz="900" dirty="0">
                <a:solidFill>
                  <a:srgbClr val="8899BB"/>
                </a:solidFill>
                <a:latin typeface="Calibri" pitchFamily="34" charset="0"/>
                <a:ea typeface="Calibri" pitchFamily="34" charset="-122"/>
                <a:cs typeface="Calibri" pitchFamily="34" charset="-120"/>
              </a:rPr>
              <a:t>21CSE004</a:t>
            </a:r>
            <a:endParaRPr lang="en-US" sz="900" dirty="0"/>
          </a:p>
        </p:txBody>
      </p:sp>
      <p:sp>
        <p:nvSpPr>
          <p:cNvPr id="35" name="Text 33"/>
          <p:cNvSpPr/>
          <p:nvPr/>
        </p:nvSpPr>
        <p:spPr>
          <a:xfrm>
            <a:off x="457200" y="4736592"/>
            <a:ext cx="8229600" cy="201168"/>
          </a:xfrm>
          <a:prstGeom prst="rect">
            <a:avLst/>
          </a:prstGeom>
          <a:noFill/>
          <a:ln/>
        </p:spPr>
        <p:txBody>
          <a:bodyPr wrap="square" rtlCol="0" anchor="ctr"/>
          <a:lstStyle/>
          <a:p>
            <a:pPr marL="0" indent="0" algn="ctr">
              <a:buNone/>
            </a:pPr>
            <a:r>
              <a:rPr lang="en-US" sz="1000" dirty="0">
                <a:solidFill>
                  <a:srgbClr val="8899BB"/>
                </a:solidFill>
                <a:latin typeface="Calibri" pitchFamily="34" charset="0"/>
                <a:ea typeface="Calibri" pitchFamily="34" charset="-122"/>
                <a:cs typeface="Calibri" pitchFamily="34" charset="-120"/>
              </a:rPr>
              <a:t>Department of Computer Science &amp; Engineering  |  Academic Year 2024</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320040" y="182880"/>
            <a:ext cx="54864" cy="566928"/>
          </a:xfrm>
          <a:prstGeom prst="rect">
            <a:avLst/>
          </a:prstGeom>
          <a:solidFill>
            <a:srgbClr val="2563EB"/>
          </a:solidFill>
          <a:ln w="12700">
            <a:solidFill>
              <a:srgbClr val="2563EB"/>
            </a:solidFill>
            <a:prstDash val="solid"/>
          </a:ln>
        </p:spPr>
      </p:sp>
      <p:sp>
        <p:nvSpPr>
          <p:cNvPr id="3" name="Shape 1"/>
          <p:cNvSpPr/>
          <p:nvPr/>
        </p:nvSpPr>
        <p:spPr>
          <a:xfrm>
            <a:off x="457200" y="182880"/>
            <a:ext cx="502920" cy="274320"/>
          </a:xfrm>
          <a:prstGeom prst="rect">
            <a:avLst/>
          </a:prstGeom>
          <a:solidFill>
            <a:srgbClr val="2563EB">
              <a:alpha val="20000"/>
            </a:srgbClr>
          </a:solidFill>
          <a:ln w="6350">
            <a:solidFill>
              <a:srgbClr val="2563EB"/>
            </a:solidFill>
            <a:prstDash val="solid"/>
          </a:ln>
        </p:spPr>
      </p:sp>
      <p:sp>
        <p:nvSpPr>
          <p:cNvPr id="4" name="Text 2"/>
          <p:cNvSpPr/>
          <p:nvPr/>
        </p:nvSpPr>
        <p:spPr>
          <a:xfrm>
            <a:off x="457200" y="182880"/>
            <a:ext cx="502920" cy="274320"/>
          </a:xfrm>
          <a:prstGeom prst="rect">
            <a:avLst/>
          </a:prstGeom>
          <a:noFill/>
          <a:ln/>
        </p:spPr>
        <p:txBody>
          <a:bodyPr wrap="square" rtlCol="0" anchor="ctr"/>
          <a:lstStyle/>
          <a:p>
            <a:pPr marL="0" indent="0" algn="ctr">
              <a:buNone/>
            </a:pPr>
            <a:r>
              <a:rPr lang="en-US" sz="900" b="1" dirty="0">
                <a:solidFill>
                  <a:srgbClr val="2563EB"/>
                </a:solidFill>
                <a:latin typeface="Arial Black" pitchFamily="34" charset="0"/>
                <a:ea typeface="Arial Black" pitchFamily="34" charset="-122"/>
                <a:cs typeface="Arial Black" pitchFamily="34" charset="-120"/>
              </a:rPr>
              <a:t>02</a:t>
            </a:r>
            <a:endParaRPr lang="en-US" sz="900" dirty="0"/>
          </a:p>
        </p:txBody>
      </p:sp>
      <p:sp>
        <p:nvSpPr>
          <p:cNvPr id="5" name="Text 3"/>
          <p:cNvSpPr/>
          <p:nvPr/>
        </p:nvSpPr>
        <p:spPr>
          <a:xfrm>
            <a:off x="1078992" y="164592"/>
            <a:ext cx="7772400" cy="438912"/>
          </a:xfrm>
          <a:prstGeom prst="rect">
            <a:avLst/>
          </a:prstGeom>
          <a:noFill/>
          <a:ln/>
        </p:spPr>
        <p:txBody>
          <a:bodyPr wrap="square" lIns="0" tIns="0" rIns="0" bIns="0" rtlCol="0" anchor="ctr"/>
          <a:lstStyle/>
          <a:p>
            <a:pPr marL="0" indent="0">
              <a:buNone/>
            </a:pPr>
            <a:r>
              <a:rPr lang="en-US" sz="2200" b="1" dirty="0">
                <a:solidFill>
                  <a:srgbClr val="1E3A5F"/>
                </a:solidFill>
                <a:latin typeface="Arial Black" pitchFamily="34" charset="0"/>
                <a:ea typeface="Arial Black" pitchFamily="34" charset="-122"/>
                <a:cs typeface="Arial Black" pitchFamily="34" charset="-120"/>
              </a:rPr>
              <a:t>Introduction</a:t>
            </a:r>
            <a:endParaRPr lang="en-US" sz="2200" dirty="0"/>
          </a:p>
        </p:txBody>
      </p:sp>
      <p:sp>
        <p:nvSpPr>
          <p:cNvPr id="6" name="Shape 4"/>
          <p:cNvSpPr/>
          <p:nvPr/>
        </p:nvSpPr>
        <p:spPr>
          <a:xfrm>
            <a:off x="320040" y="749808"/>
            <a:ext cx="8503920" cy="22860"/>
          </a:xfrm>
          <a:prstGeom prst="rect">
            <a:avLst/>
          </a:prstGeom>
          <a:solidFill>
            <a:srgbClr val="2563EB">
              <a:alpha val="50000"/>
            </a:srgbClr>
          </a:solidFill>
          <a:ln w="12700">
            <a:solidFill>
              <a:srgbClr val="2563EB"/>
            </a:solidFill>
            <a:prstDash val="solid"/>
          </a:ln>
        </p:spPr>
      </p:sp>
      <p:sp>
        <p:nvSpPr>
          <p:cNvPr id="7" name="Shape 5"/>
          <p:cNvSpPr/>
          <p:nvPr/>
        </p:nvSpPr>
        <p:spPr>
          <a:xfrm>
            <a:off x="365760" y="987552"/>
            <a:ext cx="5120640" cy="3639312"/>
          </a:xfrm>
          <a:prstGeom prst="rect">
            <a:avLst/>
          </a:prstGeom>
          <a:solidFill>
            <a:srgbClr val="FFFFFF"/>
          </a:solidFill>
          <a:ln w="6350">
            <a:solidFill>
              <a:srgbClr val="CBD5E1"/>
            </a:solidFill>
            <a:prstDash val="solid"/>
          </a:ln>
          <a:effectLst>
            <a:outerShdw blurRad="101600" dist="25400" dir="8100000" algn="bl" rotWithShape="0">
              <a:srgbClr val="94A3B8">
                <a:alpha val="25000"/>
              </a:srgbClr>
            </a:outerShdw>
          </a:effectLst>
        </p:spPr>
      </p:sp>
      <p:sp>
        <p:nvSpPr>
          <p:cNvPr id="8" name="Shape 6"/>
          <p:cNvSpPr/>
          <p:nvPr/>
        </p:nvSpPr>
        <p:spPr>
          <a:xfrm>
            <a:off x="365760" y="987552"/>
            <a:ext cx="64008" cy="3639312"/>
          </a:xfrm>
          <a:prstGeom prst="rect">
            <a:avLst/>
          </a:prstGeom>
          <a:solidFill>
            <a:srgbClr val="2563EB"/>
          </a:solidFill>
          <a:ln w="12700">
            <a:solidFill>
              <a:srgbClr val="2563EB"/>
            </a:solidFill>
            <a:prstDash val="solid"/>
          </a:ln>
        </p:spPr>
      </p:sp>
      <p:sp>
        <p:nvSpPr>
          <p:cNvPr id="9" name="Text 7"/>
          <p:cNvSpPr/>
          <p:nvPr/>
        </p:nvSpPr>
        <p:spPr>
          <a:xfrm>
            <a:off x="566928" y="1097280"/>
            <a:ext cx="4754880" cy="384048"/>
          </a:xfrm>
          <a:prstGeom prst="rect">
            <a:avLst/>
          </a:prstGeom>
          <a:noFill/>
          <a:ln/>
        </p:spPr>
        <p:txBody>
          <a:bodyPr wrap="square" rtlCol="0" anchor="ctr"/>
          <a:lstStyle/>
          <a:p>
            <a:pPr marL="0" indent="0">
              <a:buNone/>
            </a:pPr>
            <a:r>
              <a:rPr lang="en-US" sz="1800" b="1" dirty="0">
                <a:solidFill>
                  <a:srgbClr val="2563EB"/>
                </a:solidFill>
                <a:latin typeface="Arial Black" pitchFamily="34" charset="0"/>
                <a:ea typeface="Arial Black" pitchFamily="34" charset="-122"/>
                <a:cs typeface="Arial Black" pitchFamily="34" charset="-120"/>
              </a:rPr>
              <a:t>What is ServNex?</a:t>
            </a:r>
            <a:endParaRPr lang="en-US" sz="1800" dirty="0"/>
          </a:p>
        </p:txBody>
      </p:sp>
      <p:sp>
        <p:nvSpPr>
          <p:cNvPr id="10" name="Text 8"/>
          <p:cNvSpPr/>
          <p:nvPr/>
        </p:nvSpPr>
        <p:spPr>
          <a:xfrm>
            <a:off x="594360" y="1554480"/>
            <a:ext cx="4709160" cy="2971800"/>
          </a:xfrm>
          <a:prstGeom prst="rect">
            <a:avLst/>
          </a:prstGeom>
          <a:noFill/>
          <a:ln/>
        </p:spPr>
        <p:txBody>
          <a:bodyPr wrap="square"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ServNex is a full-stack web platform connecting users with skilled local service providers in real time.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Users can search, compare, book, chat, and pay — all inside one platform without switching apps.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Providers register their skills, set pricing, manage bookings, and grow their customer base digitally.</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Covers 6 service categories: Electricians, Plumbers, Carpenters, Painters, Cleaners, and AC Technicians.</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Built as a single-file HTML app — runs instantly by double-clicking in any modern browser.</a:t>
            </a:r>
            <a:endParaRPr lang="en-US" sz="1200" dirty="0"/>
          </a:p>
        </p:txBody>
      </p:sp>
      <p:sp>
        <p:nvSpPr>
          <p:cNvPr id="11" name="Shape 9"/>
          <p:cNvSpPr/>
          <p:nvPr/>
        </p:nvSpPr>
        <p:spPr>
          <a:xfrm>
            <a:off x="5760720" y="987552"/>
            <a:ext cx="2926080" cy="768096"/>
          </a:xfrm>
          <a:prstGeom prst="rect">
            <a:avLst/>
          </a:prstGeom>
          <a:solidFill>
            <a:srgbClr val="F0F4FF"/>
          </a:solidFill>
          <a:ln w="6350">
            <a:solidFill>
              <a:srgbClr val="CBD5E1"/>
            </a:solidFill>
            <a:prstDash val="solid"/>
          </a:ln>
          <a:effectLst>
            <a:outerShdw blurRad="101600" dist="25400" dir="8100000" algn="bl" rotWithShape="0">
              <a:srgbClr val="94A3B8">
                <a:alpha val="25000"/>
              </a:srgbClr>
            </a:outerShdw>
          </a:effectLst>
        </p:spPr>
      </p:sp>
      <p:sp>
        <p:nvSpPr>
          <p:cNvPr id="12" name="Shape 10"/>
          <p:cNvSpPr/>
          <p:nvPr/>
        </p:nvSpPr>
        <p:spPr>
          <a:xfrm>
            <a:off x="5760720" y="987552"/>
            <a:ext cx="54864" cy="768096"/>
          </a:xfrm>
          <a:prstGeom prst="rect">
            <a:avLst/>
          </a:prstGeom>
          <a:solidFill>
            <a:srgbClr val="2563EB"/>
          </a:solidFill>
          <a:ln w="12700">
            <a:solidFill>
              <a:srgbClr val="2563EB"/>
            </a:solidFill>
            <a:prstDash val="solid"/>
          </a:ln>
        </p:spPr>
      </p:sp>
      <p:sp>
        <p:nvSpPr>
          <p:cNvPr id="13" name="Text 11"/>
          <p:cNvSpPr/>
          <p:nvPr/>
        </p:nvSpPr>
        <p:spPr>
          <a:xfrm>
            <a:off x="5925312" y="1042416"/>
            <a:ext cx="914400" cy="658368"/>
          </a:xfrm>
          <a:prstGeom prst="rect">
            <a:avLst/>
          </a:prstGeom>
          <a:noFill/>
          <a:ln/>
        </p:spPr>
        <p:txBody>
          <a:bodyPr wrap="square" rtlCol="0" anchor="ctr"/>
          <a:lstStyle/>
          <a:p>
            <a:pPr marL="0" indent="0">
              <a:buNone/>
            </a:pPr>
            <a:r>
              <a:rPr lang="en-US" sz="2600" b="1" dirty="0">
                <a:solidFill>
                  <a:srgbClr val="2563EB"/>
                </a:solidFill>
                <a:latin typeface="Arial Black" pitchFamily="34" charset="0"/>
                <a:ea typeface="Arial Black" pitchFamily="34" charset="-122"/>
                <a:cs typeface="Arial Black" pitchFamily="34" charset="-120"/>
              </a:rPr>
              <a:t>6+</a:t>
            </a:r>
            <a:endParaRPr lang="en-US" sz="2600" dirty="0"/>
          </a:p>
        </p:txBody>
      </p:sp>
      <p:sp>
        <p:nvSpPr>
          <p:cNvPr id="14" name="Text 12"/>
          <p:cNvSpPr/>
          <p:nvPr/>
        </p:nvSpPr>
        <p:spPr>
          <a:xfrm>
            <a:off x="6931152" y="1170432"/>
            <a:ext cx="1645920" cy="402336"/>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Service Categories</a:t>
            </a:r>
            <a:endParaRPr lang="en-US" sz="1100" dirty="0"/>
          </a:p>
        </p:txBody>
      </p:sp>
      <p:sp>
        <p:nvSpPr>
          <p:cNvPr id="15" name="Shape 13"/>
          <p:cNvSpPr/>
          <p:nvPr/>
        </p:nvSpPr>
        <p:spPr>
          <a:xfrm>
            <a:off x="5760720" y="1901952"/>
            <a:ext cx="2926080" cy="768096"/>
          </a:xfrm>
          <a:prstGeom prst="rect">
            <a:avLst/>
          </a:prstGeom>
          <a:solidFill>
            <a:srgbClr val="F0F4FF"/>
          </a:solidFill>
          <a:ln w="6350">
            <a:solidFill>
              <a:srgbClr val="CBD5E1"/>
            </a:solidFill>
            <a:prstDash val="solid"/>
          </a:ln>
          <a:effectLst>
            <a:outerShdw blurRad="101600" dist="25400" dir="8100000" algn="bl" rotWithShape="0">
              <a:srgbClr val="94A3B8">
                <a:alpha val="25000"/>
              </a:srgbClr>
            </a:outerShdw>
          </a:effectLst>
        </p:spPr>
      </p:sp>
      <p:sp>
        <p:nvSpPr>
          <p:cNvPr id="16" name="Shape 14"/>
          <p:cNvSpPr/>
          <p:nvPr/>
        </p:nvSpPr>
        <p:spPr>
          <a:xfrm>
            <a:off x="5760720" y="1901952"/>
            <a:ext cx="54864" cy="768096"/>
          </a:xfrm>
          <a:prstGeom prst="rect">
            <a:avLst/>
          </a:prstGeom>
          <a:solidFill>
            <a:srgbClr val="059669"/>
          </a:solidFill>
          <a:ln w="12700">
            <a:solidFill>
              <a:srgbClr val="059669"/>
            </a:solidFill>
            <a:prstDash val="solid"/>
          </a:ln>
        </p:spPr>
      </p:sp>
      <p:sp>
        <p:nvSpPr>
          <p:cNvPr id="17" name="Text 15"/>
          <p:cNvSpPr/>
          <p:nvPr/>
        </p:nvSpPr>
        <p:spPr>
          <a:xfrm>
            <a:off x="5925312" y="1956816"/>
            <a:ext cx="914400" cy="658368"/>
          </a:xfrm>
          <a:prstGeom prst="rect">
            <a:avLst/>
          </a:prstGeom>
          <a:noFill/>
          <a:ln/>
        </p:spPr>
        <p:txBody>
          <a:bodyPr wrap="square" rtlCol="0" anchor="ctr"/>
          <a:lstStyle/>
          <a:p>
            <a:pPr marL="0" indent="0">
              <a:buNone/>
            </a:pPr>
            <a:r>
              <a:rPr lang="en-US" sz="2600" b="1" dirty="0">
                <a:solidFill>
                  <a:srgbClr val="059669"/>
                </a:solidFill>
                <a:latin typeface="Arial Black" pitchFamily="34" charset="0"/>
                <a:ea typeface="Arial Black" pitchFamily="34" charset="-122"/>
                <a:cs typeface="Arial Black" pitchFamily="34" charset="-120"/>
              </a:rPr>
              <a:t>8</a:t>
            </a:r>
            <a:endParaRPr lang="en-US" sz="2600" dirty="0"/>
          </a:p>
        </p:txBody>
      </p:sp>
      <p:sp>
        <p:nvSpPr>
          <p:cNvPr id="18" name="Text 16"/>
          <p:cNvSpPr/>
          <p:nvPr/>
        </p:nvSpPr>
        <p:spPr>
          <a:xfrm>
            <a:off x="6931152" y="2084832"/>
            <a:ext cx="1645920" cy="402336"/>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Demo Providers</a:t>
            </a:r>
            <a:endParaRPr lang="en-US" sz="1100" dirty="0"/>
          </a:p>
        </p:txBody>
      </p:sp>
      <p:sp>
        <p:nvSpPr>
          <p:cNvPr id="19" name="Shape 17"/>
          <p:cNvSpPr/>
          <p:nvPr/>
        </p:nvSpPr>
        <p:spPr>
          <a:xfrm>
            <a:off x="5760720" y="2816352"/>
            <a:ext cx="2926080" cy="768096"/>
          </a:xfrm>
          <a:prstGeom prst="rect">
            <a:avLst/>
          </a:prstGeom>
          <a:solidFill>
            <a:srgbClr val="F0F4FF"/>
          </a:solidFill>
          <a:ln w="6350">
            <a:solidFill>
              <a:srgbClr val="CBD5E1"/>
            </a:solidFill>
            <a:prstDash val="solid"/>
          </a:ln>
          <a:effectLst>
            <a:outerShdw blurRad="101600" dist="25400" dir="8100000" algn="bl" rotWithShape="0">
              <a:srgbClr val="94A3B8">
                <a:alpha val="25000"/>
              </a:srgbClr>
            </a:outerShdw>
          </a:effectLst>
        </p:spPr>
      </p:sp>
      <p:sp>
        <p:nvSpPr>
          <p:cNvPr id="20" name="Shape 18"/>
          <p:cNvSpPr/>
          <p:nvPr/>
        </p:nvSpPr>
        <p:spPr>
          <a:xfrm>
            <a:off x="5760720" y="2816352"/>
            <a:ext cx="54864" cy="768096"/>
          </a:xfrm>
          <a:prstGeom prst="rect">
            <a:avLst/>
          </a:prstGeom>
          <a:solidFill>
            <a:srgbClr val="EA580C"/>
          </a:solidFill>
          <a:ln w="12700">
            <a:solidFill>
              <a:srgbClr val="EA580C"/>
            </a:solidFill>
            <a:prstDash val="solid"/>
          </a:ln>
        </p:spPr>
      </p:sp>
      <p:sp>
        <p:nvSpPr>
          <p:cNvPr id="21" name="Text 19"/>
          <p:cNvSpPr/>
          <p:nvPr/>
        </p:nvSpPr>
        <p:spPr>
          <a:xfrm>
            <a:off x="5925312" y="2871216"/>
            <a:ext cx="914400" cy="658368"/>
          </a:xfrm>
          <a:prstGeom prst="rect">
            <a:avLst/>
          </a:prstGeom>
          <a:noFill/>
          <a:ln/>
        </p:spPr>
        <p:txBody>
          <a:bodyPr wrap="square" rtlCol="0" anchor="ctr"/>
          <a:lstStyle/>
          <a:p>
            <a:pPr marL="0" indent="0">
              <a:buNone/>
            </a:pPr>
            <a:r>
              <a:rPr lang="en-US" sz="2600" b="1" dirty="0">
                <a:solidFill>
                  <a:srgbClr val="EA580C"/>
                </a:solidFill>
                <a:latin typeface="Arial Black" pitchFamily="34" charset="0"/>
                <a:ea typeface="Arial Black" pitchFamily="34" charset="-122"/>
                <a:cs typeface="Arial Black" pitchFamily="34" charset="-120"/>
              </a:rPr>
              <a:t>100%</a:t>
            </a:r>
            <a:endParaRPr lang="en-US" sz="2600" dirty="0"/>
          </a:p>
        </p:txBody>
      </p:sp>
      <p:sp>
        <p:nvSpPr>
          <p:cNvPr id="22" name="Text 20"/>
          <p:cNvSpPr/>
          <p:nvPr/>
        </p:nvSpPr>
        <p:spPr>
          <a:xfrm>
            <a:off x="6931152" y="2999232"/>
            <a:ext cx="1645920" cy="402336"/>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Browser-Based</a:t>
            </a:r>
            <a:endParaRPr lang="en-US" sz="1100" dirty="0"/>
          </a:p>
        </p:txBody>
      </p:sp>
      <p:sp>
        <p:nvSpPr>
          <p:cNvPr id="23" name="Shape 21"/>
          <p:cNvSpPr/>
          <p:nvPr/>
        </p:nvSpPr>
        <p:spPr>
          <a:xfrm>
            <a:off x="5760720" y="3730752"/>
            <a:ext cx="2926080" cy="768096"/>
          </a:xfrm>
          <a:prstGeom prst="rect">
            <a:avLst/>
          </a:prstGeom>
          <a:solidFill>
            <a:srgbClr val="F0F4FF"/>
          </a:solidFill>
          <a:ln w="6350">
            <a:solidFill>
              <a:srgbClr val="CBD5E1"/>
            </a:solidFill>
            <a:prstDash val="solid"/>
          </a:ln>
          <a:effectLst>
            <a:outerShdw blurRad="101600" dist="25400" dir="8100000" algn="bl" rotWithShape="0">
              <a:srgbClr val="94A3B8">
                <a:alpha val="25000"/>
              </a:srgbClr>
            </a:outerShdw>
          </a:effectLst>
        </p:spPr>
      </p:sp>
      <p:sp>
        <p:nvSpPr>
          <p:cNvPr id="24" name="Shape 22"/>
          <p:cNvSpPr/>
          <p:nvPr/>
        </p:nvSpPr>
        <p:spPr>
          <a:xfrm>
            <a:off x="5760720" y="3730752"/>
            <a:ext cx="54864" cy="768096"/>
          </a:xfrm>
          <a:prstGeom prst="rect">
            <a:avLst/>
          </a:prstGeom>
          <a:solidFill>
            <a:srgbClr val="7C3AED"/>
          </a:solidFill>
          <a:ln w="12700">
            <a:solidFill>
              <a:srgbClr val="7C3AED"/>
            </a:solidFill>
            <a:prstDash val="solid"/>
          </a:ln>
        </p:spPr>
      </p:sp>
      <p:sp>
        <p:nvSpPr>
          <p:cNvPr id="25" name="Text 23"/>
          <p:cNvSpPr/>
          <p:nvPr/>
        </p:nvSpPr>
        <p:spPr>
          <a:xfrm>
            <a:off x="5925312" y="3785616"/>
            <a:ext cx="914400" cy="658368"/>
          </a:xfrm>
          <a:prstGeom prst="rect">
            <a:avLst/>
          </a:prstGeom>
          <a:noFill/>
          <a:ln/>
        </p:spPr>
        <p:txBody>
          <a:bodyPr wrap="square" rtlCol="0" anchor="ctr"/>
          <a:lstStyle/>
          <a:p>
            <a:pPr marL="0" indent="0">
              <a:buNone/>
            </a:pPr>
            <a:r>
              <a:rPr lang="en-US" sz="2600" b="1" dirty="0">
                <a:solidFill>
                  <a:srgbClr val="7C3AED"/>
                </a:solidFill>
                <a:latin typeface="Arial Black" pitchFamily="34" charset="0"/>
                <a:ea typeface="Arial Black" pitchFamily="34" charset="-122"/>
                <a:cs typeface="Arial Black" pitchFamily="34" charset="-120"/>
              </a:rPr>
              <a:t>1</a:t>
            </a:r>
            <a:endParaRPr lang="en-US" sz="2600" dirty="0"/>
          </a:p>
        </p:txBody>
      </p:sp>
      <p:sp>
        <p:nvSpPr>
          <p:cNvPr id="26" name="Text 24"/>
          <p:cNvSpPr/>
          <p:nvPr/>
        </p:nvSpPr>
        <p:spPr>
          <a:xfrm>
            <a:off x="6931152" y="3913632"/>
            <a:ext cx="1645920" cy="402336"/>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File to Run All</a:t>
            </a:r>
            <a:endParaRPr lang="en-US" sz="1100" dirty="0"/>
          </a:p>
        </p:txBody>
      </p:sp>
      <p:sp>
        <p:nvSpPr>
          <p:cNvPr id="27" name="Shape 25"/>
          <p:cNvSpPr/>
          <p:nvPr/>
        </p:nvSpPr>
        <p:spPr>
          <a:xfrm>
            <a:off x="0" y="4956048"/>
            <a:ext cx="9144000" cy="187452"/>
          </a:xfrm>
          <a:prstGeom prst="rect">
            <a:avLst/>
          </a:prstGeom>
          <a:solidFill>
            <a:srgbClr val="E2E8F0"/>
          </a:solidFill>
          <a:ln w="12700">
            <a:solidFill>
              <a:srgbClr val="CBD5E1"/>
            </a:solidFill>
            <a:prstDash val="solid"/>
          </a:ln>
        </p:spPr>
      </p:sp>
      <p:sp>
        <p:nvSpPr>
          <p:cNvPr id="28" name="Text 26"/>
          <p:cNvSpPr/>
          <p:nvPr/>
        </p:nvSpPr>
        <p:spPr>
          <a:xfrm>
            <a:off x="320040" y="4983480"/>
            <a:ext cx="5486400" cy="13716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ServNex  —  Local Services Platform</a:t>
            </a:r>
            <a:endParaRPr lang="en-US" sz="800" dirty="0"/>
          </a:p>
        </p:txBody>
      </p:sp>
      <p:sp>
        <p:nvSpPr>
          <p:cNvPr id="29" name="Text 27"/>
          <p:cNvSpPr/>
          <p:nvPr/>
        </p:nvSpPr>
        <p:spPr>
          <a:xfrm>
            <a:off x="7772400" y="4983480"/>
            <a:ext cx="1051560" cy="137160"/>
          </a:xfrm>
          <a:prstGeom prst="rect">
            <a:avLst/>
          </a:prstGeom>
          <a:noFill/>
          <a:ln/>
        </p:spPr>
        <p:txBody>
          <a:bodyPr wrap="square"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2 / 11</a:t>
            </a:r>
            <a:endParaRPr lang="en-US" sz="800" dirty="0"/>
          </a:p>
        </p:txBody>
      </p:sp>
      <p:sp>
        <p:nvSpPr>
          <p:cNvPr id="30" name="Shape 28"/>
          <p:cNvSpPr/>
          <p:nvPr/>
        </p:nvSpPr>
        <p:spPr>
          <a:xfrm>
            <a:off x="0" y="4956048"/>
            <a:ext cx="1662545" cy="27432"/>
          </a:xfrm>
          <a:prstGeom prst="rect">
            <a:avLst/>
          </a:prstGeom>
          <a:solidFill>
            <a:srgbClr val="2563EB"/>
          </a:solidFill>
          <a:ln w="12700">
            <a:solidFill>
              <a:srgbClr val="2563EB"/>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320040" y="182880"/>
            <a:ext cx="54864" cy="566928"/>
          </a:xfrm>
          <a:prstGeom prst="rect">
            <a:avLst/>
          </a:prstGeom>
          <a:solidFill>
            <a:srgbClr val="059669"/>
          </a:solidFill>
          <a:ln w="12700">
            <a:solidFill>
              <a:srgbClr val="059669"/>
            </a:solidFill>
            <a:prstDash val="solid"/>
          </a:ln>
        </p:spPr>
      </p:sp>
      <p:sp>
        <p:nvSpPr>
          <p:cNvPr id="3" name="Shape 1"/>
          <p:cNvSpPr/>
          <p:nvPr/>
        </p:nvSpPr>
        <p:spPr>
          <a:xfrm>
            <a:off x="457200" y="182880"/>
            <a:ext cx="502920" cy="274320"/>
          </a:xfrm>
          <a:prstGeom prst="rect">
            <a:avLst/>
          </a:prstGeom>
          <a:solidFill>
            <a:srgbClr val="059669">
              <a:alpha val="20000"/>
            </a:srgbClr>
          </a:solidFill>
          <a:ln w="6350">
            <a:solidFill>
              <a:srgbClr val="059669"/>
            </a:solidFill>
            <a:prstDash val="solid"/>
          </a:ln>
        </p:spPr>
      </p:sp>
      <p:sp>
        <p:nvSpPr>
          <p:cNvPr id="4" name="Text 2"/>
          <p:cNvSpPr/>
          <p:nvPr/>
        </p:nvSpPr>
        <p:spPr>
          <a:xfrm>
            <a:off x="457200" y="182880"/>
            <a:ext cx="502920" cy="274320"/>
          </a:xfrm>
          <a:prstGeom prst="rect">
            <a:avLst/>
          </a:prstGeom>
          <a:noFill/>
          <a:ln/>
        </p:spPr>
        <p:txBody>
          <a:bodyPr wrap="square" rtlCol="0" anchor="ctr"/>
          <a:lstStyle/>
          <a:p>
            <a:pPr marL="0" indent="0" algn="ctr">
              <a:buNone/>
            </a:pPr>
            <a:r>
              <a:rPr lang="en-US" sz="900" b="1" dirty="0">
                <a:solidFill>
                  <a:srgbClr val="059669"/>
                </a:solidFill>
                <a:latin typeface="Arial Black" pitchFamily="34" charset="0"/>
                <a:ea typeface="Arial Black" pitchFamily="34" charset="-122"/>
                <a:cs typeface="Arial Black" pitchFamily="34" charset="-120"/>
              </a:rPr>
              <a:t>03</a:t>
            </a:r>
            <a:endParaRPr lang="en-US" sz="900" dirty="0"/>
          </a:p>
        </p:txBody>
      </p:sp>
      <p:sp>
        <p:nvSpPr>
          <p:cNvPr id="5" name="Text 3"/>
          <p:cNvSpPr/>
          <p:nvPr/>
        </p:nvSpPr>
        <p:spPr>
          <a:xfrm>
            <a:off x="1078992" y="164592"/>
            <a:ext cx="7772400" cy="438912"/>
          </a:xfrm>
          <a:prstGeom prst="rect">
            <a:avLst/>
          </a:prstGeom>
          <a:noFill/>
          <a:ln/>
        </p:spPr>
        <p:txBody>
          <a:bodyPr wrap="square" lIns="0" tIns="0" rIns="0" bIns="0" rtlCol="0" anchor="ctr"/>
          <a:lstStyle/>
          <a:p>
            <a:pPr marL="0" indent="0">
              <a:buNone/>
            </a:pPr>
            <a:r>
              <a:rPr lang="en-US" sz="2200" b="1" dirty="0">
                <a:solidFill>
                  <a:srgbClr val="1E3A5F"/>
                </a:solidFill>
                <a:latin typeface="Arial Black" pitchFamily="34" charset="0"/>
                <a:ea typeface="Arial Black" pitchFamily="34" charset="-122"/>
                <a:cs typeface="Arial Black" pitchFamily="34" charset="-120"/>
              </a:rPr>
              <a:t>Project Objectives</a:t>
            </a:r>
            <a:endParaRPr lang="en-US" sz="2200" dirty="0"/>
          </a:p>
        </p:txBody>
      </p:sp>
      <p:sp>
        <p:nvSpPr>
          <p:cNvPr id="6" name="Shape 4"/>
          <p:cNvSpPr/>
          <p:nvPr/>
        </p:nvSpPr>
        <p:spPr>
          <a:xfrm>
            <a:off x="320040" y="749808"/>
            <a:ext cx="8503920" cy="22860"/>
          </a:xfrm>
          <a:prstGeom prst="rect">
            <a:avLst/>
          </a:prstGeom>
          <a:solidFill>
            <a:srgbClr val="059669">
              <a:alpha val="50000"/>
            </a:srgbClr>
          </a:solidFill>
          <a:ln w="12700">
            <a:solidFill>
              <a:srgbClr val="059669"/>
            </a:solidFill>
            <a:prstDash val="solid"/>
          </a:ln>
        </p:spPr>
      </p:sp>
      <p:sp>
        <p:nvSpPr>
          <p:cNvPr id="7" name="Shape 5"/>
          <p:cNvSpPr/>
          <p:nvPr/>
        </p:nvSpPr>
        <p:spPr>
          <a:xfrm>
            <a:off x="320040" y="987552"/>
            <a:ext cx="2743200" cy="1627632"/>
          </a:xfrm>
          <a:prstGeom prst="rect">
            <a:avLst/>
          </a:prstGeom>
          <a:solidFill>
            <a:srgbClr val="FFFFFF"/>
          </a:solidFill>
          <a:ln w="6350">
            <a:solidFill>
              <a:srgbClr val="CBD5E1"/>
            </a:solidFill>
            <a:prstDash val="solid"/>
          </a:ln>
          <a:effectLst>
            <a:outerShdw blurRad="101600" dist="25400" dir="8100000" algn="bl" rotWithShape="0">
              <a:srgbClr val="94A3B8">
                <a:alpha val="25000"/>
              </a:srgbClr>
            </a:outerShdw>
          </a:effectLst>
        </p:spPr>
      </p:sp>
      <p:sp>
        <p:nvSpPr>
          <p:cNvPr id="8" name="Shape 6"/>
          <p:cNvSpPr/>
          <p:nvPr/>
        </p:nvSpPr>
        <p:spPr>
          <a:xfrm>
            <a:off x="448056" y="1536192"/>
            <a:ext cx="502920" cy="502920"/>
          </a:xfrm>
          <a:prstGeom prst="ellipse">
            <a:avLst/>
          </a:prstGeom>
          <a:solidFill>
            <a:srgbClr val="2563EB"/>
          </a:solidFill>
          <a:ln/>
        </p:spPr>
      </p:sp>
      <p:sp>
        <p:nvSpPr>
          <p:cNvPr id="9" name="Text 7"/>
          <p:cNvSpPr/>
          <p:nvPr/>
        </p:nvSpPr>
        <p:spPr>
          <a:xfrm>
            <a:off x="448056" y="1572768"/>
            <a:ext cx="502920" cy="429768"/>
          </a:xfrm>
          <a:prstGeom prst="rect">
            <a:avLst/>
          </a:prstGeom>
          <a:noFill/>
          <a:ln/>
        </p:spPr>
        <p:txBody>
          <a:bodyPr wrap="square"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1</a:t>
            </a:r>
            <a:endParaRPr lang="en-US" sz="1600" dirty="0"/>
          </a:p>
        </p:txBody>
      </p:sp>
      <p:sp>
        <p:nvSpPr>
          <p:cNvPr id="10" name="Text 8"/>
          <p:cNvSpPr/>
          <p:nvPr/>
        </p:nvSpPr>
        <p:spPr>
          <a:xfrm>
            <a:off x="1069848" y="1097280"/>
            <a:ext cx="1883664" cy="438912"/>
          </a:xfrm>
          <a:prstGeom prst="rect">
            <a:avLst/>
          </a:prstGeom>
          <a:noFill/>
          <a:ln/>
        </p:spPr>
        <p:txBody>
          <a:bodyPr wrap="square" rtlCol="0" anchor="ctr"/>
          <a:lstStyle/>
          <a:p>
            <a:pPr marL="0" indent="0">
              <a:buNone/>
            </a:pPr>
            <a:r>
              <a:rPr lang="en-US" sz="1200" b="1" dirty="0">
                <a:solidFill>
                  <a:srgbClr val="2563EB"/>
                </a:solidFill>
                <a:latin typeface="Arial Black" pitchFamily="34" charset="0"/>
                <a:ea typeface="Arial Black" pitchFamily="34" charset="-122"/>
                <a:cs typeface="Arial Black" pitchFamily="34" charset="-120"/>
              </a:rPr>
              <a:t>Easy Service Discovery</a:t>
            </a:r>
            <a:endParaRPr lang="en-US" sz="1200" dirty="0"/>
          </a:p>
        </p:txBody>
      </p:sp>
      <p:sp>
        <p:nvSpPr>
          <p:cNvPr id="11" name="Text 9"/>
          <p:cNvSpPr/>
          <p:nvPr/>
        </p:nvSpPr>
        <p:spPr>
          <a:xfrm>
            <a:off x="448056" y="1792224"/>
            <a:ext cx="2496312" cy="749808"/>
          </a:xfrm>
          <a:prstGeom prst="rect">
            <a:avLst/>
          </a:prstGeom>
          <a:noFill/>
          <a:ln/>
        </p:spPr>
        <p:txBody>
          <a:bodyPr wrap="square" rtlCol="0" anchor="t"/>
          <a:lstStyle/>
          <a:p>
            <a:pPr marL="0" indent="0">
              <a:buNone/>
            </a:pPr>
            <a:r>
              <a:rPr lang="en-US" sz="1000" dirty="0">
                <a:solidFill>
                  <a:srgbClr val="475569"/>
                </a:solidFill>
                <a:latin typeface="Calibri" pitchFamily="34" charset="0"/>
                <a:ea typeface="Calibri" pitchFamily="34" charset="-122"/>
                <a:cs typeface="Calibri" pitchFamily="34" charset="-120"/>
              </a:rPr>
              <a:t>Search &amp; filter verified providers by category, skill, rating, price, and distance in real time.</a:t>
            </a:r>
            <a:endParaRPr lang="en-US" sz="1000" dirty="0"/>
          </a:p>
        </p:txBody>
      </p:sp>
      <p:sp>
        <p:nvSpPr>
          <p:cNvPr id="12" name="Shape 10"/>
          <p:cNvSpPr/>
          <p:nvPr/>
        </p:nvSpPr>
        <p:spPr>
          <a:xfrm>
            <a:off x="3227832" y="987552"/>
            <a:ext cx="2743200" cy="1627632"/>
          </a:xfrm>
          <a:prstGeom prst="rect">
            <a:avLst/>
          </a:prstGeom>
          <a:solidFill>
            <a:srgbClr val="FFFFFF"/>
          </a:solidFill>
          <a:ln w="6350">
            <a:solidFill>
              <a:srgbClr val="CBD5E1"/>
            </a:solidFill>
            <a:prstDash val="solid"/>
          </a:ln>
          <a:effectLst>
            <a:outerShdw blurRad="101600" dist="25400" dir="8100000" algn="bl" rotWithShape="0">
              <a:srgbClr val="94A3B8">
                <a:alpha val="25000"/>
              </a:srgbClr>
            </a:outerShdw>
          </a:effectLst>
        </p:spPr>
      </p:sp>
      <p:sp>
        <p:nvSpPr>
          <p:cNvPr id="13" name="Shape 11"/>
          <p:cNvSpPr/>
          <p:nvPr/>
        </p:nvSpPr>
        <p:spPr>
          <a:xfrm>
            <a:off x="3355848" y="1536192"/>
            <a:ext cx="502920" cy="502920"/>
          </a:xfrm>
          <a:prstGeom prst="ellipse">
            <a:avLst/>
          </a:prstGeom>
          <a:solidFill>
            <a:srgbClr val="059669"/>
          </a:solidFill>
          <a:ln/>
        </p:spPr>
      </p:sp>
      <p:sp>
        <p:nvSpPr>
          <p:cNvPr id="14" name="Text 12"/>
          <p:cNvSpPr/>
          <p:nvPr/>
        </p:nvSpPr>
        <p:spPr>
          <a:xfrm>
            <a:off x="3355848" y="1572768"/>
            <a:ext cx="502920" cy="429768"/>
          </a:xfrm>
          <a:prstGeom prst="rect">
            <a:avLst/>
          </a:prstGeom>
          <a:noFill/>
          <a:ln/>
        </p:spPr>
        <p:txBody>
          <a:bodyPr wrap="square"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2</a:t>
            </a:r>
            <a:endParaRPr lang="en-US" sz="1600" dirty="0"/>
          </a:p>
        </p:txBody>
      </p:sp>
      <p:sp>
        <p:nvSpPr>
          <p:cNvPr id="15" name="Text 13"/>
          <p:cNvSpPr/>
          <p:nvPr/>
        </p:nvSpPr>
        <p:spPr>
          <a:xfrm>
            <a:off x="3977640" y="1097280"/>
            <a:ext cx="1883664" cy="438912"/>
          </a:xfrm>
          <a:prstGeom prst="rect">
            <a:avLst/>
          </a:prstGeom>
          <a:noFill/>
          <a:ln/>
        </p:spPr>
        <p:txBody>
          <a:bodyPr wrap="square" rtlCol="0" anchor="ctr"/>
          <a:lstStyle/>
          <a:p>
            <a:pPr marL="0" indent="0">
              <a:buNone/>
            </a:pPr>
            <a:r>
              <a:rPr lang="en-US" sz="1200" b="1" dirty="0">
                <a:solidFill>
                  <a:srgbClr val="059669"/>
                </a:solidFill>
                <a:latin typeface="Arial Black" pitchFamily="34" charset="0"/>
                <a:ea typeface="Arial Black" pitchFamily="34" charset="-122"/>
                <a:cs typeface="Arial Black" pitchFamily="34" charset="-120"/>
              </a:rPr>
              <a:t>Seamless Booking System</a:t>
            </a:r>
            <a:endParaRPr lang="en-US" sz="1200" dirty="0"/>
          </a:p>
        </p:txBody>
      </p:sp>
      <p:sp>
        <p:nvSpPr>
          <p:cNvPr id="16" name="Text 14"/>
          <p:cNvSpPr/>
          <p:nvPr/>
        </p:nvSpPr>
        <p:spPr>
          <a:xfrm>
            <a:off x="3355848" y="1792224"/>
            <a:ext cx="2496312" cy="749808"/>
          </a:xfrm>
          <a:prstGeom prst="rect">
            <a:avLst/>
          </a:prstGeom>
          <a:noFill/>
          <a:ln/>
        </p:spPr>
        <p:txBody>
          <a:bodyPr wrap="square" rtlCol="0" anchor="t"/>
          <a:lstStyle/>
          <a:p>
            <a:pPr marL="0" indent="0">
              <a:buNone/>
            </a:pPr>
            <a:r>
              <a:rPr lang="en-US" sz="1000" dirty="0">
                <a:solidFill>
                  <a:srgbClr val="475569"/>
                </a:solidFill>
                <a:latin typeface="Calibri" pitchFamily="34" charset="0"/>
                <a:ea typeface="Calibri" pitchFamily="34" charset="-122"/>
                <a:cs typeface="Calibri" pitchFamily="34" charset="-120"/>
              </a:rPr>
              <a:t>Book with date/time selection, address input, and live status updates from the provider.</a:t>
            </a:r>
            <a:endParaRPr lang="en-US" sz="1000" dirty="0"/>
          </a:p>
        </p:txBody>
      </p:sp>
      <p:sp>
        <p:nvSpPr>
          <p:cNvPr id="17" name="Shape 15"/>
          <p:cNvSpPr/>
          <p:nvPr/>
        </p:nvSpPr>
        <p:spPr>
          <a:xfrm>
            <a:off x="6126480" y="987552"/>
            <a:ext cx="2743200" cy="1627632"/>
          </a:xfrm>
          <a:prstGeom prst="rect">
            <a:avLst/>
          </a:prstGeom>
          <a:solidFill>
            <a:srgbClr val="FFFFFF"/>
          </a:solidFill>
          <a:ln w="6350">
            <a:solidFill>
              <a:srgbClr val="CBD5E1"/>
            </a:solidFill>
            <a:prstDash val="solid"/>
          </a:ln>
          <a:effectLst>
            <a:outerShdw blurRad="101600" dist="25400" dir="8100000" algn="bl" rotWithShape="0">
              <a:srgbClr val="94A3B8">
                <a:alpha val="25000"/>
              </a:srgbClr>
            </a:outerShdw>
          </a:effectLst>
        </p:spPr>
      </p:sp>
      <p:sp>
        <p:nvSpPr>
          <p:cNvPr id="18" name="Shape 16"/>
          <p:cNvSpPr/>
          <p:nvPr/>
        </p:nvSpPr>
        <p:spPr>
          <a:xfrm>
            <a:off x="6254496" y="1536192"/>
            <a:ext cx="502920" cy="502920"/>
          </a:xfrm>
          <a:prstGeom prst="ellipse">
            <a:avLst/>
          </a:prstGeom>
          <a:solidFill>
            <a:srgbClr val="0891B2"/>
          </a:solidFill>
          <a:ln/>
        </p:spPr>
      </p:sp>
      <p:sp>
        <p:nvSpPr>
          <p:cNvPr id="19" name="Text 17"/>
          <p:cNvSpPr/>
          <p:nvPr/>
        </p:nvSpPr>
        <p:spPr>
          <a:xfrm>
            <a:off x="6254496" y="1572768"/>
            <a:ext cx="502920" cy="429768"/>
          </a:xfrm>
          <a:prstGeom prst="rect">
            <a:avLst/>
          </a:prstGeom>
          <a:noFill/>
          <a:ln/>
        </p:spPr>
        <p:txBody>
          <a:bodyPr wrap="square"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3</a:t>
            </a:r>
            <a:endParaRPr lang="en-US" sz="1600" dirty="0"/>
          </a:p>
        </p:txBody>
      </p:sp>
      <p:sp>
        <p:nvSpPr>
          <p:cNvPr id="20" name="Text 18"/>
          <p:cNvSpPr/>
          <p:nvPr/>
        </p:nvSpPr>
        <p:spPr>
          <a:xfrm>
            <a:off x="6876288" y="1097280"/>
            <a:ext cx="1883664" cy="438912"/>
          </a:xfrm>
          <a:prstGeom prst="rect">
            <a:avLst/>
          </a:prstGeom>
          <a:noFill/>
          <a:ln/>
        </p:spPr>
        <p:txBody>
          <a:bodyPr wrap="square" rtlCol="0" anchor="ctr"/>
          <a:lstStyle/>
          <a:p>
            <a:pPr marL="0" indent="0">
              <a:buNone/>
            </a:pPr>
            <a:r>
              <a:rPr lang="en-US" sz="1200" b="1" dirty="0">
                <a:solidFill>
                  <a:srgbClr val="0891B2"/>
                </a:solidFill>
                <a:latin typeface="Arial Black" pitchFamily="34" charset="0"/>
                <a:ea typeface="Arial Black" pitchFamily="34" charset="-122"/>
                <a:cs typeface="Arial Black" pitchFamily="34" charset="-120"/>
              </a:rPr>
              <a:t>Real-Time Chat</a:t>
            </a:r>
            <a:endParaRPr lang="en-US" sz="1200" dirty="0"/>
          </a:p>
        </p:txBody>
      </p:sp>
      <p:sp>
        <p:nvSpPr>
          <p:cNvPr id="21" name="Text 19"/>
          <p:cNvSpPr/>
          <p:nvPr/>
        </p:nvSpPr>
        <p:spPr>
          <a:xfrm>
            <a:off x="6254496" y="1792224"/>
            <a:ext cx="2496312" cy="749808"/>
          </a:xfrm>
          <a:prstGeom prst="rect">
            <a:avLst/>
          </a:prstGeom>
          <a:noFill/>
          <a:ln/>
        </p:spPr>
        <p:txBody>
          <a:bodyPr wrap="square" rtlCol="0" anchor="t"/>
          <a:lstStyle/>
          <a:p>
            <a:pPr marL="0" indent="0">
              <a:buNone/>
            </a:pPr>
            <a:r>
              <a:rPr lang="en-US" sz="1000" dirty="0">
                <a:solidFill>
                  <a:srgbClr val="475569"/>
                </a:solidFill>
                <a:latin typeface="Calibri" pitchFamily="34" charset="0"/>
                <a:ea typeface="Calibri" pitchFamily="34" charset="-122"/>
                <a:cs typeface="Calibri" pitchFamily="34" charset="-120"/>
              </a:rPr>
              <a:t>In-app Socket.io messaging for instant communication between users and providers.</a:t>
            </a:r>
            <a:endParaRPr lang="en-US" sz="1000" dirty="0"/>
          </a:p>
        </p:txBody>
      </p:sp>
      <p:sp>
        <p:nvSpPr>
          <p:cNvPr id="22" name="Shape 20"/>
          <p:cNvSpPr/>
          <p:nvPr/>
        </p:nvSpPr>
        <p:spPr>
          <a:xfrm>
            <a:off x="320040" y="2788920"/>
            <a:ext cx="2743200" cy="1627632"/>
          </a:xfrm>
          <a:prstGeom prst="rect">
            <a:avLst/>
          </a:prstGeom>
          <a:solidFill>
            <a:srgbClr val="FFFFFF"/>
          </a:solidFill>
          <a:ln w="6350">
            <a:solidFill>
              <a:srgbClr val="CBD5E1"/>
            </a:solidFill>
            <a:prstDash val="solid"/>
          </a:ln>
          <a:effectLst>
            <a:outerShdw blurRad="101600" dist="25400" dir="8100000" algn="bl" rotWithShape="0">
              <a:srgbClr val="94A3B8">
                <a:alpha val="25000"/>
              </a:srgbClr>
            </a:outerShdw>
          </a:effectLst>
        </p:spPr>
      </p:sp>
      <p:sp>
        <p:nvSpPr>
          <p:cNvPr id="23" name="Shape 21"/>
          <p:cNvSpPr/>
          <p:nvPr/>
        </p:nvSpPr>
        <p:spPr>
          <a:xfrm>
            <a:off x="448056" y="3337560"/>
            <a:ext cx="502920" cy="502920"/>
          </a:xfrm>
          <a:prstGeom prst="ellipse">
            <a:avLst/>
          </a:prstGeom>
          <a:solidFill>
            <a:srgbClr val="EA580C"/>
          </a:solidFill>
          <a:ln/>
        </p:spPr>
      </p:sp>
      <p:sp>
        <p:nvSpPr>
          <p:cNvPr id="24" name="Text 22"/>
          <p:cNvSpPr/>
          <p:nvPr/>
        </p:nvSpPr>
        <p:spPr>
          <a:xfrm>
            <a:off x="448056" y="3374136"/>
            <a:ext cx="502920" cy="429768"/>
          </a:xfrm>
          <a:prstGeom prst="rect">
            <a:avLst/>
          </a:prstGeom>
          <a:noFill/>
          <a:ln/>
        </p:spPr>
        <p:txBody>
          <a:bodyPr wrap="square"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4</a:t>
            </a:r>
            <a:endParaRPr lang="en-US" sz="1600" dirty="0"/>
          </a:p>
        </p:txBody>
      </p:sp>
      <p:sp>
        <p:nvSpPr>
          <p:cNvPr id="25" name="Text 23"/>
          <p:cNvSpPr/>
          <p:nvPr/>
        </p:nvSpPr>
        <p:spPr>
          <a:xfrm>
            <a:off x="1069848" y="2898648"/>
            <a:ext cx="1883664" cy="438912"/>
          </a:xfrm>
          <a:prstGeom prst="rect">
            <a:avLst/>
          </a:prstGeom>
          <a:noFill/>
          <a:ln/>
        </p:spPr>
        <p:txBody>
          <a:bodyPr wrap="square" rtlCol="0" anchor="ctr"/>
          <a:lstStyle/>
          <a:p>
            <a:pPr marL="0" indent="0">
              <a:buNone/>
            </a:pPr>
            <a:r>
              <a:rPr lang="en-US" sz="1200" b="1" dirty="0">
                <a:solidFill>
                  <a:srgbClr val="EA580C"/>
                </a:solidFill>
                <a:latin typeface="Arial Black" pitchFamily="34" charset="0"/>
                <a:ea typeface="Arial Black" pitchFamily="34" charset="-122"/>
                <a:cs typeface="Arial Black" pitchFamily="34" charset="-120"/>
              </a:rPr>
              <a:t>Secure Payment Gateway</a:t>
            </a:r>
            <a:endParaRPr lang="en-US" sz="1200" dirty="0"/>
          </a:p>
        </p:txBody>
      </p:sp>
      <p:sp>
        <p:nvSpPr>
          <p:cNvPr id="26" name="Text 24"/>
          <p:cNvSpPr/>
          <p:nvPr/>
        </p:nvSpPr>
        <p:spPr>
          <a:xfrm>
            <a:off x="448056" y="3593592"/>
            <a:ext cx="2496312" cy="749808"/>
          </a:xfrm>
          <a:prstGeom prst="rect">
            <a:avLst/>
          </a:prstGeom>
          <a:noFill/>
          <a:ln/>
        </p:spPr>
        <p:txBody>
          <a:bodyPr wrap="square" rtlCol="0" anchor="t"/>
          <a:lstStyle/>
          <a:p>
            <a:pPr marL="0" indent="0">
              <a:buNone/>
            </a:pPr>
            <a:r>
              <a:rPr lang="en-US" sz="1000" dirty="0">
                <a:solidFill>
                  <a:srgbClr val="475569"/>
                </a:solidFill>
                <a:latin typeface="Calibri" pitchFamily="34" charset="0"/>
                <a:ea typeface="Calibri" pitchFamily="34" charset="-122"/>
                <a:cs typeface="Calibri" pitchFamily="34" charset="-120"/>
              </a:rPr>
              <a:t>Razorpay integration supporting UPI, credit/debit cards, net banking, and wallets.</a:t>
            </a:r>
            <a:endParaRPr lang="en-US" sz="1000" dirty="0"/>
          </a:p>
        </p:txBody>
      </p:sp>
      <p:sp>
        <p:nvSpPr>
          <p:cNvPr id="27" name="Shape 25"/>
          <p:cNvSpPr/>
          <p:nvPr/>
        </p:nvSpPr>
        <p:spPr>
          <a:xfrm>
            <a:off x="3227832" y="2788920"/>
            <a:ext cx="2743200" cy="1627632"/>
          </a:xfrm>
          <a:prstGeom prst="rect">
            <a:avLst/>
          </a:prstGeom>
          <a:solidFill>
            <a:srgbClr val="FFFFFF"/>
          </a:solidFill>
          <a:ln w="6350">
            <a:solidFill>
              <a:srgbClr val="CBD5E1"/>
            </a:solidFill>
            <a:prstDash val="solid"/>
          </a:ln>
          <a:effectLst>
            <a:outerShdw blurRad="101600" dist="25400" dir="8100000" algn="bl" rotWithShape="0">
              <a:srgbClr val="94A3B8">
                <a:alpha val="25000"/>
              </a:srgbClr>
            </a:outerShdw>
          </a:effectLst>
        </p:spPr>
      </p:sp>
      <p:sp>
        <p:nvSpPr>
          <p:cNvPr id="28" name="Shape 26"/>
          <p:cNvSpPr/>
          <p:nvPr/>
        </p:nvSpPr>
        <p:spPr>
          <a:xfrm>
            <a:off x="3355848" y="3337560"/>
            <a:ext cx="502920" cy="502920"/>
          </a:xfrm>
          <a:prstGeom prst="ellipse">
            <a:avLst/>
          </a:prstGeom>
          <a:solidFill>
            <a:srgbClr val="7C3AED"/>
          </a:solidFill>
          <a:ln/>
        </p:spPr>
      </p:sp>
      <p:sp>
        <p:nvSpPr>
          <p:cNvPr id="29" name="Text 27"/>
          <p:cNvSpPr/>
          <p:nvPr/>
        </p:nvSpPr>
        <p:spPr>
          <a:xfrm>
            <a:off x="3355848" y="3374136"/>
            <a:ext cx="502920" cy="429768"/>
          </a:xfrm>
          <a:prstGeom prst="rect">
            <a:avLst/>
          </a:prstGeom>
          <a:noFill/>
          <a:ln/>
        </p:spPr>
        <p:txBody>
          <a:bodyPr wrap="square"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5</a:t>
            </a:r>
            <a:endParaRPr lang="en-US" sz="1600" dirty="0"/>
          </a:p>
        </p:txBody>
      </p:sp>
      <p:sp>
        <p:nvSpPr>
          <p:cNvPr id="30" name="Text 28"/>
          <p:cNvSpPr/>
          <p:nvPr/>
        </p:nvSpPr>
        <p:spPr>
          <a:xfrm>
            <a:off x="3977640" y="2898648"/>
            <a:ext cx="1883664" cy="438912"/>
          </a:xfrm>
          <a:prstGeom prst="rect">
            <a:avLst/>
          </a:prstGeom>
          <a:noFill/>
          <a:ln/>
        </p:spPr>
        <p:txBody>
          <a:bodyPr wrap="square" rtlCol="0" anchor="ctr"/>
          <a:lstStyle/>
          <a:p>
            <a:pPr marL="0" indent="0">
              <a:buNone/>
            </a:pPr>
            <a:r>
              <a:rPr lang="en-US" sz="1200" b="1" dirty="0">
                <a:solidFill>
                  <a:srgbClr val="7C3AED"/>
                </a:solidFill>
                <a:latin typeface="Arial Black" pitchFamily="34" charset="0"/>
                <a:ea typeface="Arial Black" pitchFamily="34" charset="-122"/>
                <a:cs typeface="Arial Black" pitchFamily="34" charset="-120"/>
              </a:rPr>
              <a:t>Trust via Ratings</a:t>
            </a:r>
            <a:endParaRPr lang="en-US" sz="1200" dirty="0"/>
          </a:p>
        </p:txBody>
      </p:sp>
      <p:sp>
        <p:nvSpPr>
          <p:cNvPr id="31" name="Text 29"/>
          <p:cNvSpPr/>
          <p:nvPr/>
        </p:nvSpPr>
        <p:spPr>
          <a:xfrm>
            <a:off x="3355848" y="3593592"/>
            <a:ext cx="2496312" cy="749808"/>
          </a:xfrm>
          <a:prstGeom prst="rect">
            <a:avLst/>
          </a:prstGeom>
          <a:noFill/>
          <a:ln/>
        </p:spPr>
        <p:txBody>
          <a:bodyPr wrap="square" rtlCol="0" anchor="t"/>
          <a:lstStyle/>
          <a:p>
            <a:pPr marL="0" indent="0">
              <a:buNone/>
            </a:pPr>
            <a:r>
              <a:rPr lang="en-US" sz="1000" dirty="0">
                <a:solidFill>
                  <a:srgbClr val="475569"/>
                </a:solidFill>
                <a:latin typeface="Calibri" pitchFamily="34" charset="0"/>
                <a:ea typeface="Calibri" pitchFamily="34" charset="-122"/>
                <a:cs typeface="Calibri" pitchFamily="34" charset="-120"/>
              </a:rPr>
              <a:t>Review &amp; star-rating system after job completion to build provider reputation.</a:t>
            </a:r>
            <a:endParaRPr lang="en-US" sz="1000" dirty="0"/>
          </a:p>
        </p:txBody>
      </p:sp>
      <p:sp>
        <p:nvSpPr>
          <p:cNvPr id="32" name="Shape 30"/>
          <p:cNvSpPr/>
          <p:nvPr/>
        </p:nvSpPr>
        <p:spPr>
          <a:xfrm>
            <a:off x="6126480" y="2788920"/>
            <a:ext cx="2743200" cy="1627632"/>
          </a:xfrm>
          <a:prstGeom prst="rect">
            <a:avLst/>
          </a:prstGeom>
          <a:solidFill>
            <a:srgbClr val="FFFFFF"/>
          </a:solidFill>
          <a:ln w="6350">
            <a:solidFill>
              <a:srgbClr val="CBD5E1"/>
            </a:solidFill>
            <a:prstDash val="solid"/>
          </a:ln>
          <a:effectLst>
            <a:outerShdw blurRad="101600" dist="25400" dir="8100000" algn="bl" rotWithShape="0">
              <a:srgbClr val="94A3B8">
                <a:alpha val="25000"/>
              </a:srgbClr>
            </a:outerShdw>
          </a:effectLst>
        </p:spPr>
      </p:sp>
      <p:sp>
        <p:nvSpPr>
          <p:cNvPr id="33" name="Shape 31"/>
          <p:cNvSpPr/>
          <p:nvPr/>
        </p:nvSpPr>
        <p:spPr>
          <a:xfrm>
            <a:off x="6254496" y="3337560"/>
            <a:ext cx="502920" cy="502920"/>
          </a:xfrm>
          <a:prstGeom prst="ellipse">
            <a:avLst/>
          </a:prstGeom>
          <a:solidFill>
            <a:srgbClr val="DC2626"/>
          </a:solidFill>
          <a:ln/>
        </p:spPr>
      </p:sp>
      <p:sp>
        <p:nvSpPr>
          <p:cNvPr id="34" name="Text 32"/>
          <p:cNvSpPr/>
          <p:nvPr/>
        </p:nvSpPr>
        <p:spPr>
          <a:xfrm>
            <a:off x="6254496" y="3374136"/>
            <a:ext cx="502920" cy="429768"/>
          </a:xfrm>
          <a:prstGeom prst="rect">
            <a:avLst/>
          </a:prstGeom>
          <a:noFill/>
          <a:ln/>
        </p:spPr>
        <p:txBody>
          <a:bodyPr wrap="square"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6</a:t>
            </a:r>
            <a:endParaRPr lang="en-US" sz="1600" dirty="0"/>
          </a:p>
        </p:txBody>
      </p:sp>
      <p:sp>
        <p:nvSpPr>
          <p:cNvPr id="35" name="Text 33"/>
          <p:cNvSpPr/>
          <p:nvPr/>
        </p:nvSpPr>
        <p:spPr>
          <a:xfrm>
            <a:off x="6876288" y="2898648"/>
            <a:ext cx="1883664" cy="438912"/>
          </a:xfrm>
          <a:prstGeom prst="rect">
            <a:avLst/>
          </a:prstGeom>
          <a:noFill/>
          <a:ln/>
        </p:spPr>
        <p:txBody>
          <a:bodyPr wrap="square" rtlCol="0" anchor="ctr"/>
          <a:lstStyle/>
          <a:p>
            <a:pPr marL="0" indent="0">
              <a:buNone/>
            </a:pPr>
            <a:r>
              <a:rPr lang="en-US" sz="1200" b="1" dirty="0">
                <a:solidFill>
                  <a:srgbClr val="DC2626"/>
                </a:solidFill>
                <a:latin typeface="Arial Black" pitchFamily="34" charset="0"/>
                <a:ea typeface="Arial Black" pitchFamily="34" charset="-122"/>
                <a:cs typeface="Arial Black" pitchFamily="34" charset="-120"/>
              </a:rPr>
              <a:t>Admin Oversight</a:t>
            </a:r>
            <a:endParaRPr lang="en-US" sz="1200" dirty="0"/>
          </a:p>
        </p:txBody>
      </p:sp>
      <p:sp>
        <p:nvSpPr>
          <p:cNvPr id="36" name="Text 34"/>
          <p:cNvSpPr/>
          <p:nvPr/>
        </p:nvSpPr>
        <p:spPr>
          <a:xfrm>
            <a:off x="6254496" y="3593592"/>
            <a:ext cx="2496312" cy="749808"/>
          </a:xfrm>
          <a:prstGeom prst="rect">
            <a:avLst/>
          </a:prstGeom>
          <a:noFill/>
          <a:ln/>
        </p:spPr>
        <p:txBody>
          <a:bodyPr wrap="square" rtlCol="0" anchor="t"/>
          <a:lstStyle/>
          <a:p>
            <a:pPr marL="0" indent="0">
              <a:buNone/>
            </a:pPr>
            <a:r>
              <a:rPr lang="en-US" sz="1000" dirty="0">
                <a:solidFill>
                  <a:srgbClr val="475569"/>
                </a:solidFill>
                <a:latin typeface="Calibri" pitchFamily="34" charset="0"/>
                <a:ea typeface="Calibri" pitchFamily="34" charset="-122"/>
                <a:cs typeface="Calibri" pitchFamily="34" charset="-120"/>
              </a:rPr>
              <a:t>Admin panel to verify providers, manage users, monitor all bookings &amp; handle disputes.</a:t>
            </a:r>
            <a:endParaRPr lang="en-US" sz="1000" dirty="0"/>
          </a:p>
        </p:txBody>
      </p:sp>
      <p:sp>
        <p:nvSpPr>
          <p:cNvPr id="37" name="Shape 35"/>
          <p:cNvSpPr/>
          <p:nvPr/>
        </p:nvSpPr>
        <p:spPr>
          <a:xfrm>
            <a:off x="0" y="4956048"/>
            <a:ext cx="9144000" cy="187452"/>
          </a:xfrm>
          <a:prstGeom prst="rect">
            <a:avLst/>
          </a:prstGeom>
          <a:solidFill>
            <a:srgbClr val="E2E8F0"/>
          </a:solidFill>
          <a:ln w="12700">
            <a:solidFill>
              <a:srgbClr val="CBD5E1"/>
            </a:solidFill>
            <a:prstDash val="solid"/>
          </a:ln>
        </p:spPr>
      </p:sp>
      <p:sp>
        <p:nvSpPr>
          <p:cNvPr id="38" name="Text 36"/>
          <p:cNvSpPr/>
          <p:nvPr/>
        </p:nvSpPr>
        <p:spPr>
          <a:xfrm>
            <a:off x="320040" y="4983480"/>
            <a:ext cx="5486400" cy="13716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ServNex  —  Local Services Platform</a:t>
            </a:r>
            <a:endParaRPr lang="en-US" sz="800" dirty="0"/>
          </a:p>
        </p:txBody>
      </p:sp>
      <p:sp>
        <p:nvSpPr>
          <p:cNvPr id="39" name="Text 37"/>
          <p:cNvSpPr/>
          <p:nvPr/>
        </p:nvSpPr>
        <p:spPr>
          <a:xfrm>
            <a:off x="7772400" y="4983480"/>
            <a:ext cx="1051560" cy="137160"/>
          </a:xfrm>
          <a:prstGeom prst="rect">
            <a:avLst/>
          </a:prstGeom>
          <a:noFill/>
          <a:ln/>
        </p:spPr>
        <p:txBody>
          <a:bodyPr wrap="square"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3 / 11</a:t>
            </a:r>
            <a:endParaRPr lang="en-US" sz="800" dirty="0"/>
          </a:p>
        </p:txBody>
      </p:sp>
      <p:sp>
        <p:nvSpPr>
          <p:cNvPr id="40" name="Shape 38"/>
          <p:cNvSpPr/>
          <p:nvPr/>
        </p:nvSpPr>
        <p:spPr>
          <a:xfrm>
            <a:off x="0" y="4956048"/>
            <a:ext cx="2493818" cy="27432"/>
          </a:xfrm>
          <a:prstGeom prst="rect">
            <a:avLst/>
          </a:prstGeom>
          <a:solidFill>
            <a:srgbClr val="2563EB"/>
          </a:solidFill>
          <a:ln w="12700">
            <a:solidFill>
              <a:srgbClr val="2563EB"/>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320040" y="182880"/>
            <a:ext cx="54864" cy="566928"/>
          </a:xfrm>
          <a:prstGeom prst="rect">
            <a:avLst/>
          </a:prstGeom>
          <a:solidFill>
            <a:srgbClr val="EA580C"/>
          </a:solidFill>
          <a:ln w="12700">
            <a:solidFill>
              <a:srgbClr val="EA580C"/>
            </a:solidFill>
            <a:prstDash val="solid"/>
          </a:ln>
        </p:spPr>
      </p:sp>
      <p:sp>
        <p:nvSpPr>
          <p:cNvPr id="3" name="Shape 1"/>
          <p:cNvSpPr/>
          <p:nvPr/>
        </p:nvSpPr>
        <p:spPr>
          <a:xfrm>
            <a:off x="457200" y="182880"/>
            <a:ext cx="502920" cy="274320"/>
          </a:xfrm>
          <a:prstGeom prst="rect">
            <a:avLst/>
          </a:prstGeom>
          <a:solidFill>
            <a:srgbClr val="EA580C">
              <a:alpha val="20000"/>
            </a:srgbClr>
          </a:solidFill>
          <a:ln w="6350">
            <a:solidFill>
              <a:srgbClr val="EA580C"/>
            </a:solidFill>
            <a:prstDash val="solid"/>
          </a:ln>
        </p:spPr>
      </p:sp>
      <p:sp>
        <p:nvSpPr>
          <p:cNvPr id="4" name="Text 2"/>
          <p:cNvSpPr/>
          <p:nvPr/>
        </p:nvSpPr>
        <p:spPr>
          <a:xfrm>
            <a:off x="457200" y="182880"/>
            <a:ext cx="502920" cy="274320"/>
          </a:xfrm>
          <a:prstGeom prst="rect">
            <a:avLst/>
          </a:prstGeom>
          <a:noFill/>
          <a:ln/>
        </p:spPr>
        <p:txBody>
          <a:bodyPr wrap="square" rtlCol="0" anchor="ctr"/>
          <a:lstStyle/>
          <a:p>
            <a:pPr marL="0" indent="0" algn="ctr">
              <a:buNone/>
            </a:pPr>
            <a:r>
              <a:rPr lang="en-US" sz="900" b="1" dirty="0">
                <a:solidFill>
                  <a:srgbClr val="EA580C"/>
                </a:solidFill>
                <a:latin typeface="Arial Black" pitchFamily="34" charset="0"/>
                <a:ea typeface="Arial Black" pitchFamily="34" charset="-122"/>
                <a:cs typeface="Arial Black" pitchFamily="34" charset="-120"/>
              </a:rPr>
              <a:t>04</a:t>
            </a:r>
            <a:endParaRPr lang="en-US" sz="900" dirty="0"/>
          </a:p>
        </p:txBody>
      </p:sp>
      <p:sp>
        <p:nvSpPr>
          <p:cNvPr id="5" name="Text 3"/>
          <p:cNvSpPr/>
          <p:nvPr/>
        </p:nvSpPr>
        <p:spPr>
          <a:xfrm>
            <a:off x="1078992" y="164592"/>
            <a:ext cx="7772400" cy="438912"/>
          </a:xfrm>
          <a:prstGeom prst="rect">
            <a:avLst/>
          </a:prstGeom>
          <a:noFill/>
          <a:ln/>
        </p:spPr>
        <p:txBody>
          <a:bodyPr wrap="square" lIns="0" tIns="0" rIns="0" bIns="0" rtlCol="0" anchor="ctr"/>
          <a:lstStyle/>
          <a:p>
            <a:pPr marL="0" indent="0">
              <a:buNone/>
            </a:pPr>
            <a:r>
              <a:rPr lang="en-US" sz="2200" b="1" dirty="0">
                <a:solidFill>
                  <a:srgbClr val="1E3A5F"/>
                </a:solidFill>
                <a:latin typeface="Arial Black" pitchFamily="34" charset="0"/>
                <a:ea typeface="Arial Black" pitchFamily="34" charset="-122"/>
                <a:cs typeface="Arial Black" pitchFamily="34" charset="-120"/>
              </a:rPr>
              <a:t>Stakeholders</a:t>
            </a:r>
            <a:endParaRPr lang="en-US" sz="2200" dirty="0"/>
          </a:p>
        </p:txBody>
      </p:sp>
      <p:sp>
        <p:nvSpPr>
          <p:cNvPr id="6" name="Shape 4"/>
          <p:cNvSpPr/>
          <p:nvPr/>
        </p:nvSpPr>
        <p:spPr>
          <a:xfrm>
            <a:off x="320040" y="749808"/>
            <a:ext cx="8503920" cy="22860"/>
          </a:xfrm>
          <a:prstGeom prst="rect">
            <a:avLst/>
          </a:prstGeom>
          <a:solidFill>
            <a:srgbClr val="EA580C">
              <a:alpha val="50000"/>
            </a:srgbClr>
          </a:solidFill>
          <a:ln w="12700">
            <a:solidFill>
              <a:srgbClr val="EA580C"/>
            </a:solidFill>
            <a:prstDash val="solid"/>
          </a:ln>
        </p:spPr>
      </p:sp>
      <p:sp>
        <p:nvSpPr>
          <p:cNvPr id="7" name="Shape 5"/>
          <p:cNvSpPr/>
          <p:nvPr/>
        </p:nvSpPr>
        <p:spPr>
          <a:xfrm>
            <a:off x="320040" y="987552"/>
            <a:ext cx="2816352" cy="3858768"/>
          </a:xfrm>
          <a:prstGeom prst="rect">
            <a:avLst/>
          </a:prstGeom>
          <a:solidFill>
            <a:srgbClr val="FFFFFF"/>
          </a:solidFill>
          <a:ln w="6350">
            <a:solidFill>
              <a:srgbClr val="CBD5E1"/>
            </a:solidFill>
            <a:prstDash val="solid"/>
          </a:ln>
          <a:effectLst>
            <a:outerShdw blurRad="101600" dist="25400" dir="8100000" algn="bl" rotWithShape="0">
              <a:srgbClr val="94A3B8">
                <a:alpha val="25000"/>
              </a:srgbClr>
            </a:outerShdw>
          </a:effectLst>
        </p:spPr>
      </p:sp>
      <p:sp>
        <p:nvSpPr>
          <p:cNvPr id="8" name="Shape 6"/>
          <p:cNvSpPr/>
          <p:nvPr/>
        </p:nvSpPr>
        <p:spPr>
          <a:xfrm>
            <a:off x="320040" y="987552"/>
            <a:ext cx="64008" cy="3858768"/>
          </a:xfrm>
          <a:prstGeom prst="rect">
            <a:avLst/>
          </a:prstGeom>
          <a:solidFill>
            <a:srgbClr val="2563EB"/>
          </a:solidFill>
          <a:ln w="12700">
            <a:solidFill>
              <a:srgbClr val="2563EB"/>
            </a:solidFill>
            <a:prstDash val="solid"/>
          </a:ln>
        </p:spPr>
      </p:sp>
      <p:sp>
        <p:nvSpPr>
          <p:cNvPr id="9" name="Text 7"/>
          <p:cNvSpPr/>
          <p:nvPr/>
        </p:nvSpPr>
        <p:spPr>
          <a:xfrm>
            <a:off x="502920" y="1042416"/>
            <a:ext cx="2542032" cy="384048"/>
          </a:xfrm>
          <a:prstGeom prst="rect">
            <a:avLst/>
          </a:prstGeom>
          <a:noFill/>
          <a:ln/>
        </p:spPr>
        <p:txBody>
          <a:bodyPr wrap="square" rtlCol="0" anchor="ctr"/>
          <a:lstStyle/>
          <a:p>
            <a:pPr marL="0" indent="0">
              <a:buNone/>
            </a:pPr>
            <a:r>
              <a:rPr lang="en-US" sz="1400" b="1" dirty="0">
                <a:solidFill>
                  <a:srgbClr val="2563EB"/>
                </a:solidFill>
                <a:latin typeface="Arial Black" pitchFamily="34" charset="0"/>
                <a:ea typeface="Arial Black" pitchFamily="34" charset="-122"/>
                <a:cs typeface="Arial Black" pitchFamily="34" charset="-120"/>
              </a:rPr>
              <a:t>End Users (Customers)</a:t>
            </a:r>
            <a:endParaRPr lang="en-US" sz="1400" dirty="0"/>
          </a:p>
        </p:txBody>
      </p:sp>
      <p:sp>
        <p:nvSpPr>
          <p:cNvPr id="10" name="Shape 8"/>
          <p:cNvSpPr/>
          <p:nvPr/>
        </p:nvSpPr>
        <p:spPr>
          <a:xfrm>
            <a:off x="502920" y="1444752"/>
            <a:ext cx="2377440" cy="18288"/>
          </a:xfrm>
          <a:prstGeom prst="rect">
            <a:avLst/>
          </a:prstGeom>
          <a:solidFill>
            <a:srgbClr val="2563EB">
              <a:alpha val="40000"/>
            </a:srgbClr>
          </a:solidFill>
          <a:ln w="12700">
            <a:solidFill>
              <a:srgbClr val="2563EB"/>
            </a:solidFill>
            <a:prstDash val="solid"/>
          </a:ln>
        </p:spPr>
      </p:sp>
      <p:sp>
        <p:nvSpPr>
          <p:cNvPr id="11" name="Text 9"/>
          <p:cNvSpPr/>
          <p:nvPr/>
        </p:nvSpPr>
        <p:spPr>
          <a:xfrm>
            <a:off x="521208" y="1536192"/>
            <a:ext cx="2450592" cy="2304288"/>
          </a:xfrm>
          <a:prstGeom prst="rect">
            <a:avLst/>
          </a:prstGeom>
          <a:noFill/>
          <a:ln/>
        </p:spPr>
        <p:txBody>
          <a:bodyPr wrap="square" rtlCol="0" anchor="t"/>
          <a:lstStyle/>
          <a:p>
            <a:pPr marL="342900" indent="-3429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Search for local service providers</a:t>
            </a:r>
            <a:endParaRPr lang="en-US" sz="1050" dirty="0"/>
          </a:p>
          <a:p>
            <a:pPr marL="342900" indent="-3429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Filter by category, skill, price &amp; rating</a:t>
            </a:r>
            <a:endParaRPr lang="en-US" sz="1050" dirty="0"/>
          </a:p>
          <a:p>
            <a:pPr marL="342900" indent="-3429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Book with preferred date, time, address</a:t>
            </a:r>
            <a:endParaRPr lang="en-US" sz="1050" dirty="0"/>
          </a:p>
          <a:p>
            <a:pPr marL="342900" indent="-3429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Chat with provider in real time</a:t>
            </a:r>
            <a:endParaRPr lang="en-US" sz="1050" dirty="0"/>
          </a:p>
          <a:p>
            <a:pPr marL="342900" indent="-3429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Pay securely via Razorpay</a:t>
            </a:r>
            <a:endParaRPr lang="en-US" sz="1050" dirty="0"/>
          </a:p>
          <a:p>
            <a:pPr marL="342900" indent="-3429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Leave star ratings and reviews</a:t>
            </a:r>
            <a:endParaRPr lang="en-US" sz="1050" dirty="0"/>
          </a:p>
        </p:txBody>
      </p:sp>
      <p:sp>
        <p:nvSpPr>
          <p:cNvPr id="12" name="Shape 10"/>
          <p:cNvSpPr/>
          <p:nvPr/>
        </p:nvSpPr>
        <p:spPr>
          <a:xfrm>
            <a:off x="3273552" y="987552"/>
            <a:ext cx="2816352" cy="3858768"/>
          </a:xfrm>
          <a:prstGeom prst="rect">
            <a:avLst/>
          </a:prstGeom>
          <a:solidFill>
            <a:srgbClr val="FFFFFF"/>
          </a:solidFill>
          <a:ln w="6350">
            <a:solidFill>
              <a:srgbClr val="CBD5E1"/>
            </a:solidFill>
            <a:prstDash val="solid"/>
          </a:ln>
          <a:effectLst>
            <a:outerShdw blurRad="101600" dist="25400" dir="8100000" algn="bl" rotWithShape="0">
              <a:srgbClr val="94A3B8">
                <a:alpha val="25000"/>
              </a:srgbClr>
            </a:outerShdw>
          </a:effectLst>
        </p:spPr>
      </p:sp>
      <p:sp>
        <p:nvSpPr>
          <p:cNvPr id="13" name="Shape 11"/>
          <p:cNvSpPr/>
          <p:nvPr/>
        </p:nvSpPr>
        <p:spPr>
          <a:xfrm>
            <a:off x="3273552" y="987552"/>
            <a:ext cx="64008" cy="3858768"/>
          </a:xfrm>
          <a:prstGeom prst="rect">
            <a:avLst/>
          </a:prstGeom>
          <a:solidFill>
            <a:srgbClr val="059669"/>
          </a:solidFill>
          <a:ln w="12700">
            <a:solidFill>
              <a:srgbClr val="059669"/>
            </a:solidFill>
            <a:prstDash val="solid"/>
          </a:ln>
        </p:spPr>
      </p:sp>
      <p:sp>
        <p:nvSpPr>
          <p:cNvPr id="14" name="Text 12"/>
          <p:cNvSpPr/>
          <p:nvPr/>
        </p:nvSpPr>
        <p:spPr>
          <a:xfrm>
            <a:off x="3456432" y="1042416"/>
            <a:ext cx="2542032" cy="384048"/>
          </a:xfrm>
          <a:prstGeom prst="rect">
            <a:avLst/>
          </a:prstGeom>
          <a:noFill/>
          <a:ln/>
        </p:spPr>
        <p:txBody>
          <a:bodyPr wrap="square" rtlCol="0" anchor="ctr"/>
          <a:lstStyle/>
          <a:p>
            <a:pPr marL="0" indent="0">
              <a:buNone/>
            </a:pPr>
            <a:r>
              <a:rPr lang="en-US" sz="1400" b="1" dirty="0">
                <a:solidFill>
                  <a:srgbClr val="059669"/>
                </a:solidFill>
                <a:latin typeface="Arial Black" pitchFamily="34" charset="0"/>
                <a:ea typeface="Arial Black" pitchFamily="34" charset="-122"/>
                <a:cs typeface="Arial Black" pitchFamily="34" charset="-120"/>
              </a:rPr>
              <a:t>Service Providers</a:t>
            </a:r>
            <a:endParaRPr lang="en-US" sz="1400" dirty="0"/>
          </a:p>
        </p:txBody>
      </p:sp>
      <p:sp>
        <p:nvSpPr>
          <p:cNvPr id="15" name="Shape 13"/>
          <p:cNvSpPr/>
          <p:nvPr/>
        </p:nvSpPr>
        <p:spPr>
          <a:xfrm>
            <a:off x="3456432" y="1444752"/>
            <a:ext cx="2377440" cy="18288"/>
          </a:xfrm>
          <a:prstGeom prst="rect">
            <a:avLst/>
          </a:prstGeom>
          <a:solidFill>
            <a:srgbClr val="059669">
              <a:alpha val="40000"/>
            </a:srgbClr>
          </a:solidFill>
          <a:ln w="12700">
            <a:solidFill>
              <a:srgbClr val="059669"/>
            </a:solidFill>
            <a:prstDash val="solid"/>
          </a:ln>
        </p:spPr>
      </p:sp>
      <p:sp>
        <p:nvSpPr>
          <p:cNvPr id="16" name="Text 14"/>
          <p:cNvSpPr/>
          <p:nvPr/>
        </p:nvSpPr>
        <p:spPr>
          <a:xfrm>
            <a:off x="3474720" y="1536192"/>
            <a:ext cx="2450592" cy="2304288"/>
          </a:xfrm>
          <a:prstGeom prst="rect">
            <a:avLst/>
          </a:prstGeom>
          <a:noFill/>
          <a:ln/>
        </p:spPr>
        <p:txBody>
          <a:bodyPr wrap="square" rtlCol="0" anchor="t"/>
          <a:lstStyle/>
          <a:p>
            <a:pPr marL="342900" indent="-3429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Register with skills &amp; service location</a:t>
            </a:r>
            <a:endParaRPr lang="en-US" sz="1050" dirty="0"/>
          </a:p>
          <a:p>
            <a:pPr marL="342900" indent="-3429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Submit profile for admin verification</a:t>
            </a:r>
            <a:endParaRPr lang="en-US" sz="1050" dirty="0"/>
          </a:p>
          <a:p>
            <a:pPr marL="342900" indent="-3429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Accept or reject booking requests</a:t>
            </a:r>
            <a:endParaRPr lang="en-US" sz="1050" dirty="0"/>
          </a:p>
          <a:p>
            <a:pPr marL="342900" indent="-3429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Communicate with customers via chat</a:t>
            </a:r>
            <a:endParaRPr lang="en-US" sz="1050" dirty="0"/>
          </a:p>
          <a:p>
            <a:pPr marL="342900" indent="-3429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Mark job complete &amp; set final price</a:t>
            </a:r>
            <a:endParaRPr lang="en-US" sz="1050" dirty="0"/>
          </a:p>
          <a:p>
            <a:pPr marL="342900" indent="-3429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Build reputation through reviews</a:t>
            </a:r>
            <a:endParaRPr lang="en-US" sz="1050" dirty="0"/>
          </a:p>
        </p:txBody>
      </p:sp>
      <p:sp>
        <p:nvSpPr>
          <p:cNvPr id="17" name="Shape 15"/>
          <p:cNvSpPr/>
          <p:nvPr/>
        </p:nvSpPr>
        <p:spPr>
          <a:xfrm>
            <a:off x="6227064" y="987552"/>
            <a:ext cx="2816352" cy="3858768"/>
          </a:xfrm>
          <a:prstGeom prst="rect">
            <a:avLst/>
          </a:prstGeom>
          <a:solidFill>
            <a:srgbClr val="FFFFFF"/>
          </a:solidFill>
          <a:ln w="6350">
            <a:solidFill>
              <a:srgbClr val="CBD5E1"/>
            </a:solidFill>
            <a:prstDash val="solid"/>
          </a:ln>
          <a:effectLst>
            <a:outerShdw blurRad="101600" dist="25400" dir="8100000" algn="bl" rotWithShape="0">
              <a:srgbClr val="94A3B8">
                <a:alpha val="25000"/>
              </a:srgbClr>
            </a:outerShdw>
          </a:effectLst>
        </p:spPr>
      </p:sp>
      <p:sp>
        <p:nvSpPr>
          <p:cNvPr id="18" name="Shape 16"/>
          <p:cNvSpPr/>
          <p:nvPr/>
        </p:nvSpPr>
        <p:spPr>
          <a:xfrm>
            <a:off x="6227064" y="987552"/>
            <a:ext cx="64008" cy="3858768"/>
          </a:xfrm>
          <a:prstGeom prst="rect">
            <a:avLst/>
          </a:prstGeom>
          <a:solidFill>
            <a:srgbClr val="EA580C"/>
          </a:solidFill>
          <a:ln w="12700">
            <a:solidFill>
              <a:srgbClr val="EA580C"/>
            </a:solidFill>
            <a:prstDash val="solid"/>
          </a:ln>
        </p:spPr>
      </p:sp>
      <p:sp>
        <p:nvSpPr>
          <p:cNvPr id="19" name="Text 17"/>
          <p:cNvSpPr/>
          <p:nvPr/>
        </p:nvSpPr>
        <p:spPr>
          <a:xfrm>
            <a:off x="6409944" y="1042416"/>
            <a:ext cx="2542032" cy="384048"/>
          </a:xfrm>
          <a:prstGeom prst="rect">
            <a:avLst/>
          </a:prstGeom>
          <a:noFill/>
          <a:ln/>
        </p:spPr>
        <p:txBody>
          <a:bodyPr wrap="square" rtlCol="0" anchor="ctr"/>
          <a:lstStyle/>
          <a:p>
            <a:pPr marL="0" indent="0">
              <a:buNone/>
            </a:pPr>
            <a:r>
              <a:rPr lang="en-US" sz="1400" b="1" dirty="0">
                <a:solidFill>
                  <a:srgbClr val="EA580C"/>
                </a:solidFill>
                <a:latin typeface="Arial Black" pitchFamily="34" charset="0"/>
                <a:ea typeface="Arial Black" pitchFamily="34" charset="-122"/>
                <a:cs typeface="Arial Black" pitchFamily="34" charset="-120"/>
              </a:rPr>
              <a:t>Platform Administrator</a:t>
            </a:r>
            <a:endParaRPr lang="en-US" sz="1400" dirty="0"/>
          </a:p>
        </p:txBody>
      </p:sp>
      <p:sp>
        <p:nvSpPr>
          <p:cNvPr id="20" name="Shape 18"/>
          <p:cNvSpPr/>
          <p:nvPr/>
        </p:nvSpPr>
        <p:spPr>
          <a:xfrm>
            <a:off x="6409944" y="1444752"/>
            <a:ext cx="2377440" cy="18288"/>
          </a:xfrm>
          <a:prstGeom prst="rect">
            <a:avLst/>
          </a:prstGeom>
          <a:solidFill>
            <a:srgbClr val="EA580C">
              <a:alpha val="40000"/>
            </a:srgbClr>
          </a:solidFill>
          <a:ln w="12700">
            <a:solidFill>
              <a:srgbClr val="EA580C"/>
            </a:solidFill>
            <a:prstDash val="solid"/>
          </a:ln>
        </p:spPr>
      </p:sp>
      <p:sp>
        <p:nvSpPr>
          <p:cNvPr id="21" name="Text 19"/>
          <p:cNvSpPr/>
          <p:nvPr/>
        </p:nvSpPr>
        <p:spPr>
          <a:xfrm>
            <a:off x="6428232" y="1536192"/>
            <a:ext cx="2450592" cy="2304288"/>
          </a:xfrm>
          <a:prstGeom prst="rect">
            <a:avLst/>
          </a:prstGeom>
          <a:noFill/>
          <a:ln/>
        </p:spPr>
        <p:txBody>
          <a:bodyPr wrap="square" rtlCol="0" anchor="t"/>
          <a:lstStyle/>
          <a:p>
            <a:pPr marL="342900" indent="-3429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Verify &amp; approve provider profiles</a:t>
            </a:r>
            <a:endParaRPr lang="en-US" sz="1050" dirty="0"/>
          </a:p>
          <a:p>
            <a:pPr marL="342900" indent="-3429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Manage all registered users</a:t>
            </a:r>
            <a:endParaRPr lang="en-US" sz="1050" dirty="0"/>
          </a:p>
          <a:p>
            <a:pPr marL="342900" indent="-3429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Monitor all platform bookings</a:t>
            </a:r>
            <a:endParaRPr lang="en-US" sz="1050" dirty="0"/>
          </a:p>
          <a:p>
            <a:pPr marL="342900" indent="-3429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Enable or disable user accounts</a:t>
            </a:r>
            <a:endParaRPr lang="en-US" sz="1050" dirty="0"/>
          </a:p>
          <a:p>
            <a:pPr marL="342900" indent="-3429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View revenue and platform stats</a:t>
            </a:r>
            <a:endParaRPr lang="en-US" sz="1050" dirty="0"/>
          </a:p>
          <a:p>
            <a:pPr marL="342900" indent="-3429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Handle complaints and disputes</a:t>
            </a:r>
            <a:endParaRPr lang="en-US" sz="1050" dirty="0"/>
          </a:p>
        </p:txBody>
      </p:sp>
      <p:sp>
        <p:nvSpPr>
          <p:cNvPr id="22" name="Shape 20"/>
          <p:cNvSpPr/>
          <p:nvPr/>
        </p:nvSpPr>
        <p:spPr>
          <a:xfrm>
            <a:off x="0" y="4956048"/>
            <a:ext cx="9144000" cy="187452"/>
          </a:xfrm>
          <a:prstGeom prst="rect">
            <a:avLst/>
          </a:prstGeom>
          <a:solidFill>
            <a:srgbClr val="E2E8F0"/>
          </a:solidFill>
          <a:ln w="12700">
            <a:solidFill>
              <a:srgbClr val="CBD5E1"/>
            </a:solidFill>
            <a:prstDash val="solid"/>
          </a:ln>
        </p:spPr>
      </p:sp>
      <p:sp>
        <p:nvSpPr>
          <p:cNvPr id="23" name="Text 21"/>
          <p:cNvSpPr/>
          <p:nvPr/>
        </p:nvSpPr>
        <p:spPr>
          <a:xfrm>
            <a:off x="320040" y="4983480"/>
            <a:ext cx="5486400" cy="13716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ServNex  —  Local Services Platform</a:t>
            </a:r>
            <a:endParaRPr lang="en-US" sz="800" dirty="0"/>
          </a:p>
        </p:txBody>
      </p:sp>
      <p:sp>
        <p:nvSpPr>
          <p:cNvPr id="24" name="Text 22"/>
          <p:cNvSpPr/>
          <p:nvPr/>
        </p:nvSpPr>
        <p:spPr>
          <a:xfrm>
            <a:off x="7772400" y="4983480"/>
            <a:ext cx="1051560" cy="137160"/>
          </a:xfrm>
          <a:prstGeom prst="rect">
            <a:avLst/>
          </a:prstGeom>
          <a:noFill/>
          <a:ln/>
        </p:spPr>
        <p:txBody>
          <a:bodyPr wrap="square"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4 / 11</a:t>
            </a:r>
            <a:endParaRPr lang="en-US" sz="800" dirty="0"/>
          </a:p>
        </p:txBody>
      </p:sp>
      <p:sp>
        <p:nvSpPr>
          <p:cNvPr id="25" name="Shape 23"/>
          <p:cNvSpPr/>
          <p:nvPr/>
        </p:nvSpPr>
        <p:spPr>
          <a:xfrm>
            <a:off x="0" y="4956048"/>
            <a:ext cx="3325091" cy="27432"/>
          </a:xfrm>
          <a:prstGeom prst="rect">
            <a:avLst/>
          </a:prstGeom>
          <a:solidFill>
            <a:srgbClr val="2563EB"/>
          </a:solidFill>
          <a:ln w="12700">
            <a:solidFill>
              <a:srgbClr val="2563EB"/>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320040" y="182880"/>
            <a:ext cx="54864" cy="566928"/>
          </a:xfrm>
          <a:prstGeom prst="rect">
            <a:avLst/>
          </a:prstGeom>
          <a:solidFill>
            <a:srgbClr val="7C3AED"/>
          </a:solidFill>
          <a:ln w="12700">
            <a:solidFill>
              <a:srgbClr val="7C3AED"/>
            </a:solidFill>
            <a:prstDash val="solid"/>
          </a:ln>
        </p:spPr>
      </p:sp>
      <p:sp>
        <p:nvSpPr>
          <p:cNvPr id="3" name="Shape 1"/>
          <p:cNvSpPr/>
          <p:nvPr/>
        </p:nvSpPr>
        <p:spPr>
          <a:xfrm>
            <a:off x="457200" y="182880"/>
            <a:ext cx="502920" cy="274320"/>
          </a:xfrm>
          <a:prstGeom prst="rect">
            <a:avLst/>
          </a:prstGeom>
          <a:solidFill>
            <a:srgbClr val="7C3AED">
              <a:alpha val="20000"/>
            </a:srgbClr>
          </a:solidFill>
          <a:ln w="6350">
            <a:solidFill>
              <a:srgbClr val="7C3AED"/>
            </a:solidFill>
            <a:prstDash val="solid"/>
          </a:ln>
        </p:spPr>
      </p:sp>
      <p:sp>
        <p:nvSpPr>
          <p:cNvPr id="4" name="Text 2"/>
          <p:cNvSpPr/>
          <p:nvPr/>
        </p:nvSpPr>
        <p:spPr>
          <a:xfrm>
            <a:off x="457200" y="182880"/>
            <a:ext cx="502920" cy="274320"/>
          </a:xfrm>
          <a:prstGeom prst="rect">
            <a:avLst/>
          </a:prstGeom>
          <a:noFill/>
          <a:ln/>
        </p:spPr>
        <p:txBody>
          <a:bodyPr wrap="square" rtlCol="0" anchor="ctr"/>
          <a:lstStyle/>
          <a:p>
            <a:pPr marL="0" indent="0" algn="ctr">
              <a:buNone/>
            </a:pPr>
            <a:r>
              <a:rPr lang="en-US" sz="900" b="1" dirty="0">
                <a:solidFill>
                  <a:srgbClr val="7C3AED"/>
                </a:solidFill>
                <a:latin typeface="Arial Black" pitchFamily="34" charset="0"/>
                <a:ea typeface="Arial Black" pitchFamily="34" charset="-122"/>
                <a:cs typeface="Arial Black" pitchFamily="34" charset="-120"/>
              </a:rPr>
              <a:t>05</a:t>
            </a:r>
            <a:endParaRPr lang="en-US" sz="900" dirty="0"/>
          </a:p>
        </p:txBody>
      </p:sp>
      <p:sp>
        <p:nvSpPr>
          <p:cNvPr id="5" name="Text 3"/>
          <p:cNvSpPr/>
          <p:nvPr/>
        </p:nvSpPr>
        <p:spPr>
          <a:xfrm>
            <a:off x="1078992" y="164592"/>
            <a:ext cx="7772400" cy="438912"/>
          </a:xfrm>
          <a:prstGeom prst="rect">
            <a:avLst/>
          </a:prstGeom>
          <a:noFill/>
          <a:ln/>
        </p:spPr>
        <p:txBody>
          <a:bodyPr wrap="square" lIns="0" tIns="0" rIns="0" bIns="0" rtlCol="0" anchor="ctr"/>
          <a:lstStyle/>
          <a:p>
            <a:pPr marL="0" indent="0">
              <a:buNone/>
            </a:pPr>
            <a:r>
              <a:rPr lang="en-US" sz="2200" b="1" dirty="0">
                <a:solidFill>
                  <a:srgbClr val="1E3A5F"/>
                </a:solidFill>
                <a:latin typeface="Arial Black" pitchFamily="34" charset="0"/>
                <a:ea typeface="Arial Black" pitchFamily="34" charset="-122"/>
                <a:cs typeface="Arial Black" pitchFamily="34" charset="-120"/>
              </a:rPr>
              <a:t>Programming Languages, Tools &amp; Software</a:t>
            </a:r>
            <a:endParaRPr lang="en-US" sz="2200" dirty="0"/>
          </a:p>
        </p:txBody>
      </p:sp>
      <p:sp>
        <p:nvSpPr>
          <p:cNvPr id="6" name="Shape 4"/>
          <p:cNvSpPr/>
          <p:nvPr/>
        </p:nvSpPr>
        <p:spPr>
          <a:xfrm>
            <a:off x="320040" y="749808"/>
            <a:ext cx="8503920" cy="22860"/>
          </a:xfrm>
          <a:prstGeom prst="rect">
            <a:avLst/>
          </a:prstGeom>
          <a:solidFill>
            <a:srgbClr val="7C3AED">
              <a:alpha val="50000"/>
            </a:srgbClr>
          </a:solidFill>
          <a:ln w="12700">
            <a:solidFill>
              <a:srgbClr val="7C3AED"/>
            </a:solidFill>
            <a:prstDash val="solid"/>
          </a:ln>
        </p:spPr>
      </p:sp>
      <p:sp>
        <p:nvSpPr>
          <p:cNvPr id="7" name="Shape 5"/>
          <p:cNvSpPr/>
          <p:nvPr/>
        </p:nvSpPr>
        <p:spPr>
          <a:xfrm>
            <a:off x="320040" y="987552"/>
            <a:ext cx="4206240" cy="1719072"/>
          </a:xfrm>
          <a:prstGeom prst="rect">
            <a:avLst/>
          </a:prstGeom>
          <a:solidFill>
            <a:srgbClr val="FFFFFF"/>
          </a:solidFill>
          <a:ln w="6350">
            <a:solidFill>
              <a:srgbClr val="CBD5E1"/>
            </a:solidFill>
            <a:prstDash val="solid"/>
          </a:ln>
          <a:effectLst>
            <a:outerShdw blurRad="101600" dist="25400" dir="8100000" algn="bl" rotWithShape="0">
              <a:srgbClr val="94A3B8">
                <a:alpha val="25000"/>
              </a:srgbClr>
            </a:outerShdw>
          </a:effectLst>
        </p:spPr>
      </p:sp>
      <p:sp>
        <p:nvSpPr>
          <p:cNvPr id="8" name="Shape 6"/>
          <p:cNvSpPr/>
          <p:nvPr/>
        </p:nvSpPr>
        <p:spPr>
          <a:xfrm>
            <a:off x="320040" y="987552"/>
            <a:ext cx="64008" cy="1719072"/>
          </a:xfrm>
          <a:prstGeom prst="rect">
            <a:avLst/>
          </a:prstGeom>
          <a:solidFill>
            <a:srgbClr val="2563EB"/>
          </a:solidFill>
          <a:ln w="12700">
            <a:solidFill>
              <a:srgbClr val="2563EB"/>
            </a:solidFill>
            <a:prstDash val="solid"/>
          </a:ln>
        </p:spPr>
      </p:sp>
      <p:sp>
        <p:nvSpPr>
          <p:cNvPr id="9" name="Text 7"/>
          <p:cNvSpPr/>
          <p:nvPr/>
        </p:nvSpPr>
        <p:spPr>
          <a:xfrm>
            <a:off x="502920" y="1078992"/>
            <a:ext cx="3840480" cy="310896"/>
          </a:xfrm>
          <a:prstGeom prst="rect">
            <a:avLst/>
          </a:prstGeom>
          <a:noFill/>
          <a:ln/>
        </p:spPr>
        <p:txBody>
          <a:bodyPr wrap="square" rtlCol="0" anchor="ctr"/>
          <a:lstStyle/>
          <a:p>
            <a:pPr marL="0" indent="0">
              <a:buNone/>
            </a:pPr>
            <a:r>
              <a:rPr lang="en-US" sz="1300" b="1" dirty="0">
                <a:solidFill>
                  <a:srgbClr val="2563EB"/>
                </a:solidFill>
                <a:latin typeface="Arial Black" pitchFamily="34" charset="0"/>
                <a:ea typeface="Arial Black" pitchFamily="34" charset="-122"/>
                <a:cs typeface="Arial Black" pitchFamily="34" charset="-120"/>
              </a:rPr>
              <a:t>Frontend Technologies</a:t>
            </a:r>
            <a:endParaRPr lang="en-US" sz="1300" dirty="0"/>
          </a:p>
        </p:txBody>
      </p:sp>
      <p:sp>
        <p:nvSpPr>
          <p:cNvPr id="10" name="Text 8"/>
          <p:cNvSpPr/>
          <p:nvPr/>
        </p:nvSpPr>
        <p:spPr>
          <a:xfrm>
            <a:off x="502920" y="1444752"/>
            <a:ext cx="3858768" cy="1170432"/>
          </a:xfrm>
          <a:prstGeom prst="rect">
            <a:avLst/>
          </a:prstGeom>
          <a:noFill/>
          <a:ln/>
        </p:spPr>
        <p:txBody>
          <a:bodyPr wrap="square" rtlCol="0" anchor="t"/>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HTML5 — Structure &amp; semantics</a:t>
            </a:r>
            <a:endParaRPr lang="en-US" sz="1000" dirty="0"/>
          </a:p>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CSS3 — Animations, Grid, CSS Variables</a:t>
            </a:r>
            <a:endParaRPr lang="en-US" sz="1000" dirty="0"/>
          </a:p>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Vanilla JavaScript ES6+ — Full app logic</a:t>
            </a:r>
            <a:endParaRPr lang="en-US" sz="1000" dirty="0"/>
          </a:p>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Google Fonts (Clash Display + Cabinet Grotesk)</a:t>
            </a:r>
            <a:endParaRPr lang="en-US" sz="1000" dirty="0"/>
          </a:p>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LocalStorage API — Client-side persistence</a:t>
            </a:r>
            <a:endParaRPr lang="en-US" sz="1000" dirty="0"/>
          </a:p>
        </p:txBody>
      </p:sp>
      <p:sp>
        <p:nvSpPr>
          <p:cNvPr id="11" name="Shape 9"/>
          <p:cNvSpPr/>
          <p:nvPr/>
        </p:nvSpPr>
        <p:spPr>
          <a:xfrm>
            <a:off x="4800600" y="987552"/>
            <a:ext cx="4206240" cy="1719072"/>
          </a:xfrm>
          <a:prstGeom prst="rect">
            <a:avLst/>
          </a:prstGeom>
          <a:solidFill>
            <a:srgbClr val="FFFFFF"/>
          </a:solidFill>
          <a:ln w="6350">
            <a:solidFill>
              <a:srgbClr val="CBD5E1"/>
            </a:solidFill>
            <a:prstDash val="solid"/>
          </a:ln>
          <a:effectLst>
            <a:outerShdw blurRad="101600" dist="25400" dir="8100000" algn="bl" rotWithShape="0">
              <a:srgbClr val="94A3B8">
                <a:alpha val="25000"/>
              </a:srgbClr>
            </a:outerShdw>
          </a:effectLst>
        </p:spPr>
      </p:sp>
      <p:sp>
        <p:nvSpPr>
          <p:cNvPr id="12" name="Shape 10"/>
          <p:cNvSpPr/>
          <p:nvPr/>
        </p:nvSpPr>
        <p:spPr>
          <a:xfrm>
            <a:off x="4800600" y="987552"/>
            <a:ext cx="64008" cy="1719072"/>
          </a:xfrm>
          <a:prstGeom prst="rect">
            <a:avLst/>
          </a:prstGeom>
          <a:solidFill>
            <a:srgbClr val="059669"/>
          </a:solidFill>
          <a:ln w="12700">
            <a:solidFill>
              <a:srgbClr val="059669"/>
            </a:solidFill>
            <a:prstDash val="solid"/>
          </a:ln>
        </p:spPr>
      </p:sp>
      <p:sp>
        <p:nvSpPr>
          <p:cNvPr id="13" name="Text 11"/>
          <p:cNvSpPr/>
          <p:nvPr/>
        </p:nvSpPr>
        <p:spPr>
          <a:xfrm>
            <a:off x="4983480" y="1078992"/>
            <a:ext cx="3840480" cy="310896"/>
          </a:xfrm>
          <a:prstGeom prst="rect">
            <a:avLst/>
          </a:prstGeom>
          <a:noFill/>
          <a:ln/>
        </p:spPr>
        <p:txBody>
          <a:bodyPr wrap="square" rtlCol="0" anchor="ctr"/>
          <a:lstStyle/>
          <a:p>
            <a:pPr marL="0" indent="0">
              <a:buNone/>
            </a:pPr>
            <a:r>
              <a:rPr lang="en-US" sz="1300" b="1" dirty="0">
                <a:solidFill>
                  <a:srgbClr val="059669"/>
                </a:solidFill>
                <a:latin typeface="Arial Black" pitchFamily="34" charset="0"/>
                <a:ea typeface="Arial Black" pitchFamily="34" charset="-122"/>
                <a:cs typeface="Arial Black" pitchFamily="34" charset="-120"/>
              </a:rPr>
              <a:t>Backend Technologies</a:t>
            </a:r>
            <a:endParaRPr lang="en-US" sz="1300" dirty="0"/>
          </a:p>
        </p:txBody>
      </p:sp>
      <p:sp>
        <p:nvSpPr>
          <p:cNvPr id="14" name="Text 12"/>
          <p:cNvSpPr/>
          <p:nvPr/>
        </p:nvSpPr>
        <p:spPr>
          <a:xfrm>
            <a:off x="4983480" y="1444752"/>
            <a:ext cx="3858768" cy="1170432"/>
          </a:xfrm>
          <a:prstGeom prst="rect">
            <a:avLst/>
          </a:prstGeom>
          <a:noFill/>
          <a:ln/>
        </p:spPr>
        <p:txBody>
          <a:bodyPr wrap="square" rtlCol="0" anchor="t"/>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Node.js — Server-side runtime</a:t>
            </a:r>
            <a:endParaRPr lang="en-US" sz="1000" dirty="0"/>
          </a:p>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Express.js — REST API framework</a:t>
            </a:r>
            <a:endParaRPr lang="en-US" sz="1000" dirty="0"/>
          </a:p>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Socket.io — Real-time events</a:t>
            </a:r>
            <a:endParaRPr lang="en-US" sz="1000" dirty="0"/>
          </a:p>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MongoDB + Mongoose — Database &amp; ODM</a:t>
            </a:r>
            <a:endParaRPr lang="en-US" sz="1000" dirty="0"/>
          </a:p>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JWT — Authentication  |  bcryptjs — Hashing</a:t>
            </a:r>
            <a:endParaRPr lang="en-US" sz="1000" dirty="0"/>
          </a:p>
        </p:txBody>
      </p:sp>
      <p:sp>
        <p:nvSpPr>
          <p:cNvPr id="15" name="Shape 13"/>
          <p:cNvSpPr/>
          <p:nvPr/>
        </p:nvSpPr>
        <p:spPr>
          <a:xfrm>
            <a:off x="320040" y="2907792"/>
            <a:ext cx="4206240" cy="1719072"/>
          </a:xfrm>
          <a:prstGeom prst="rect">
            <a:avLst/>
          </a:prstGeom>
          <a:solidFill>
            <a:srgbClr val="FFFFFF"/>
          </a:solidFill>
          <a:ln w="6350">
            <a:solidFill>
              <a:srgbClr val="CBD5E1"/>
            </a:solidFill>
            <a:prstDash val="solid"/>
          </a:ln>
          <a:effectLst>
            <a:outerShdw blurRad="101600" dist="25400" dir="8100000" algn="bl" rotWithShape="0">
              <a:srgbClr val="94A3B8">
                <a:alpha val="25000"/>
              </a:srgbClr>
            </a:outerShdw>
          </a:effectLst>
        </p:spPr>
      </p:sp>
      <p:sp>
        <p:nvSpPr>
          <p:cNvPr id="16" name="Shape 14"/>
          <p:cNvSpPr/>
          <p:nvPr/>
        </p:nvSpPr>
        <p:spPr>
          <a:xfrm>
            <a:off x="320040" y="2907792"/>
            <a:ext cx="64008" cy="1719072"/>
          </a:xfrm>
          <a:prstGeom prst="rect">
            <a:avLst/>
          </a:prstGeom>
          <a:solidFill>
            <a:srgbClr val="EA580C"/>
          </a:solidFill>
          <a:ln w="12700">
            <a:solidFill>
              <a:srgbClr val="EA580C"/>
            </a:solidFill>
            <a:prstDash val="solid"/>
          </a:ln>
        </p:spPr>
      </p:sp>
      <p:sp>
        <p:nvSpPr>
          <p:cNvPr id="17" name="Text 15"/>
          <p:cNvSpPr/>
          <p:nvPr/>
        </p:nvSpPr>
        <p:spPr>
          <a:xfrm>
            <a:off x="502920" y="2999232"/>
            <a:ext cx="3840480" cy="310896"/>
          </a:xfrm>
          <a:prstGeom prst="rect">
            <a:avLst/>
          </a:prstGeom>
          <a:noFill/>
          <a:ln/>
        </p:spPr>
        <p:txBody>
          <a:bodyPr wrap="square" rtlCol="0" anchor="ctr"/>
          <a:lstStyle/>
          <a:p>
            <a:pPr marL="0" indent="0">
              <a:buNone/>
            </a:pPr>
            <a:r>
              <a:rPr lang="en-US" sz="1300" b="1" dirty="0">
                <a:solidFill>
                  <a:srgbClr val="EA580C"/>
                </a:solidFill>
                <a:latin typeface="Arial Black" pitchFamily="34" charset="0"/>
                <a:ea typeface="Arial Black" pitchFamily="34" charset="-122"/>
                <a:cs typeface="Arial Black" pitchFamily="34" charset="-120"/>
              </a:rPr>
              <a:t>Payments &amp; External APIs</a:t>
            </a:r>
            <a:endParaRPr lang="en-US" sz="1300" dirty="0"/>
          </a:p>
        </p:txBody>
      </p:sp>
      <p:sp>
        <p:nvSpPr>
          <p:cNvPr id="18" name="Text 16"/>
          <p:cNvSpPr/>
          <p:nvPr/>
        </p:nvSpPr>
        <p:spPr>
          <a:xfrm>
            <a:off x="502920" y="3364992"/>
            <a:ext cx="3858768" cy="1170432"/>
          </a:xfrm>
          <a:prstGeom prst="rect">
            <a:avLst/>
          </a:prstGeom>
          <a:noFill/>
          <a:ln/>
        </p:spPr>
        <p:txBody>
          <a:bodyPr wrap="square" rtlCol="0" anchor="t"/>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Razorpay — Payment gateway (India)</a:t>
            </a:r>
            <a:endParaRPr lang="en-US" sz="1000" dirty="0"/>
          </a:p>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Google Maps JS API — Maps &amp; geolocation</a:t>
            </a:r>
            <a:endParaRPr lang="en-US" sz="1000" dirty="0"/>
          </a:p>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Browser Geolocation API — GPS detection</a:t>
            </a:r>
            <a:endParaRPr lang="en-US" sz="1000" dirty="0"/>
          </a:p>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HMAC SHA256 — Payment signature verification</a:t>
            </a:r>
            <a:endParaRPr lang="en-US" sz="1000" dirty="0"/>
          </a:p>
        </p:txBody>
      </p:sp>
      <p:sp>
        <p:nvSpPr>
          <p:cNvPr id="19" name="Shape 17"/>
          <p:cNvSpPr/>
          <p:nvPr/>
        </p:nvSpPr>
        <p:spPr>
          <a:xfrm>
            <a:off x="4800600" y="2907792"/>
            <a:ext cx="4206240" cy="1719072"/>
          </a:xfrm>
          <a:prstGeom prst="rect">
            <a:avLst/>
          </a:prstGeom>
          <a:solidFill>
            <a:srgbClr val="FFFFFF"/>
          </a:solidFill>
          <a:ln w="6350">
            <a:solidFill>
              <a:srgbClr val="CBD5E1"/>
            </a:solidFill>
            <a:prstDash val="solid"/>
          </a:ln>
          <a:effectLst>
            <a:outerShdw blurRad="101600" dist="25400" dir="8100000" algn="bl" rotWithShape="0">
              <a:srgbClr val="94A3B8">
                <a:alpha val="25000"/>
              </a:srgbClr>
            </a:outerShdw>
          </a:effectLst>
        </p:spPr>
      </p:sp>
      <p:sp>
        <p:nvSpPr>
          <p:cNvPr id="20" name="Shape 18"/>
          <p:cNvSpPr/>
          <p:nvPr/>
        </p:nvSpPr>
        <p:spPr>
          <a:xfrm>
            <a:off x="4800600" y="2907792"/>
            <a:ext cx="64008" cy="1719072"/>
          </a:xfrm>
          <a:prstGeom prst="rect">
            <a:avLst/>
          </a:prstGeom>
          <a:solidFill>
            <a:srgbClr val="7C3AED"/>
          </a:solidFill>
          <a:ln w="12700">
            <a:solidFill>
              <a:srgbClr val="7C3AED"/>
            </a:solidFill>
            <a:prstDash val="solid"/>
          </a:ln>
        </p:spPr>
      </p:sp>
      <p:sp>
        <p:nvSpPr>
          <p:cNvPr id="21" name="Text 19"/>
          <p:cNvSpPr/>
          <p:nvPr/>
        </p:nvSpPr>
        <p:spPr>
          <a:xfrm>
            <a:off x="4983480" y="2999232"/>
            <a:ext cx="3840480" cy="310896"/>
          </a:xfrm>
          <a:prstGeom prst="rect">
            <a:avLst/>
          </a:prstGeom>
          <a:noFill/>
          <a:ln/>
        </p:spPr>
        <p:txBody>
          <a:bodyPr wrap="square" rtlCol="0" anchor="ctr"/>
          <a:lstStyle/>
          <a:p>
            <a:pPr marL="0" indent="0">
              <a:buNone/>
            </a:pPr>
            <a:r>
              <a:rPr lang="en-US" sz="1300" b="1" dirty="0">
                <a:solidFill>
                  <a:srgbClr val="7C3AED"/>
                </a:solidFill>
                <a:latin typeface="Arial Black" pitchFamily="34" charset="0"/>
                <a:ea typeface="Arial Black" pitchFamily="34" charset="-122"/>
                <a:cs typeface="Arial Black" pitchFamily="34" charset="-120"/>
              </a:rPr>
              <a:t>AI &amp; Development Tools</a:t>
            </a:r>
            <a:endParaRPr lang="en-US" sz="1300" dirty="0"/>
          </a:p>
        </p:txBody>
      </p:sp>
      <p:sp>
        <p:nvSpPr>
          <p:cNvPr id="22" name="Text 20"/>
          <p:cNvSpPr/>
          <p:nvPr/>
        </p:nvSpPr>
        <p:spPr>
          <a:xfrm>
            <a:off x="4983480" y="3364992"/>
            <a:ext cx="3858768" cy="1170432"/>
          </a:xfrm>
          <a:prstGeom prst="rect">
            <a:avLst/>
          </a:prstGeom>
          <a:noFill/>
          <a:ln/>
        </p:spPr>
        <p:txBody>
          <a:bodyPr wrap="square" rtlCol="0" anchor="t"/>
          <a:lstStyle/>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Claude AI (Anthropic) — Code generation</a:t>
            </a:r>
            <a:endParaRPr lang="en-US" sz="1000" dirty="0"/>
          </a:p>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Visual Studio Code — IDE</a:t>
            </a:r>
            <a:endParaRPr lang="en-US" sz="1000" dirty="0"/>
          </a:p>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Git &amp; GitHub — Version control</a:t>
            </a:r>
            <a:endParaRPr lang="en-US" sz="1000" dirty="0"/>
          </a:p>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Postman — API testing</a:t>
            </a:r>
            <a:endParaRPr lang="en-US" sz="1000" dirty="0"/>
          </a:p>
          <a:p>
            <a:pPr marL="342900" indent="-342900">
              <a:buSzPct val="100000"/>
              <a:buChar char="•"/>
            </a:pPr>
            <a:r>
              <a:rPr lang="en-US" sz="1000" dirty="0">
                <a:solidFill>
                  <a:srgbClr val="1E293B"/>
                </a:solidFill>
                <a:latin typeface="Calibri" pitchFamily="34" charset="0"/>
                <a:ea typeface="Calibri" pitchFamily="34" charset="-122"/>
                <a:cs typeface="Calibri" pitchFamily="34" charset="-120"/>
              </a:rPr>
              <a:t>npm — Package management</a:t>
            </a:r>
            <a:endParaRPr lang="en-US" sz="1000" dirty="0"/>
          </a:p>
        </p:txBody>
      </p:sp>
      <p:sp>
        <p:nvSpPr>
          <p:cNvPr id="23" name="Shape 21"/>
          <p:cNvSpPr/>
          <p:nvPr/>
        </p:nvSpPr>
        <p:spPr>
          <a:xfrm>
            <a:off x="0" y="4956048"/>
            <a:ext cx="9144000" cy="187452"/>
          </a:xfrm>
          <a:prstGeom prst="rect">
            <a:avLst/>
          </a:prstGeom>
          <a:solidFill>
            <a:srgbClr val="E2E8F0"/>
          </a:solidFill>
          <a:ln w="12700">
            <a:solidFill>
              <a:srgbClr val="CBD5E1"/>
            </a:solidFill>
            <a:prstDash val="solid"/>
          </a:ln>
        </p:spPr>
      </p:sp>
      <p:sp>
        <p:nvSpPr>
          <p:cNvPr id="24" name="Text 22"/>
          <p:cNvSpPr/>
          <p:nvPr/>
        </p:nvSpPr>
        <p:spPr>
          <a:xfrm>
            <a:off x="320040" y="4983480"/>
            <a:ext cx="5486400" cy="13716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ServNex  —  Local Services Platform</a:t>
            </a:r>
            <a:endParaRPr lang="en-US" sz="800" dirty="0"/>
          </a:p>
        </p:txBody>
      </p:sp>
      <p:sp>
        <p:nvSpPr>
          <p:cNvPr id="25" name="Text 23"/>
          <p:cNvSpPr/>
          <p:nvPr/>
        </p:nvSpPr>
        <p:spPr>
          <a:xfrm>
            <a:off x="7772400" y="4983480"/>
            <a:ext cx="1051560" cy="137160"/>
          </a:xfrm>
          <a:prstGeom prst="rect">
            <a:avLst/>
          </a:prstGeom>
          <a:noFill/>
          <a:ln/>
        </p:spPr>
        <p:txBody>
          <a:bodyPr wrap="square"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5 / 11</a:t>
            </a:r>
            <a:endParaRPr lang="en-US" sz="800" dirty="0"/>
          </a:p>
        </p:txBody>
      </p:sp>
      <p:sp>
        <p:nvSpPr>
          <p:cNvPr id="26" name="Shape 24"/>
          <p:cNvSpPr/>
          <p:nvPr/>
        </p:nvSpPr>
        <p:spPr>
          <a:xfrm>
            <a:off x="0" y="4956048"/>
            <a:ext cx="4156364" cy="27432"/>
          </a:xfrm>
          <a:prstGeom prst="rect">
            <a:avLst/>
          </a:prstGeom>
          <a:solidFill>
            <a:srgbClr val="2563EB"/>
          </a:solidFill>
          <a:ln w="12700">
            <a:solidFill>
              <a:srgbClr val="2563EB"/>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320040" y="182880"/>
            <a:ext cx="54864" cy="566928"/>
          </a:xfrm>
          <a:prstGeom prst="rect">
            <a:avLst/>
          </a:prstGeom>
          <a:solidFill>
            <a:srgbClr val="2563EB"/>
          </a:solidFill>
          <a:ln w="12700">
            <a:solidFill>
              <a:srgbClr val="2563EB"/>
            </a:solidFill>
            <a:prstDash val="solid"/>
          </a:ln>
        </p:spPr>
      </p:sp>
      <p:sp>
        <p:nvSpPr>
          <p:cNvPr id="3" name="Shape 1"/>
          <p:cNvSpPr/>
          <p:nvPr/>
        </p:nvSpPr>
        <p:spPr>
          <a:xfrm>
            <a:off x="457200" y="182880"/>
            <a:ext cx="502920" cy="274320"/>
          </a:xfrm>
          <a:prstGeom prst="rect">
            <a:avLst/>
          </a:prstGeom>
          <a:solidFill>
            <a:srgbClr val="2563EB">
              <a:alpha val="20000"/>
            </a:srgbClr>
          </a:solidFill>
          <a:ln w="6350">
            <a:solidFill>
              <a:srgbClr val="2563EB"/>
            </a:solidFill>
            <a:prstDash val="solid"/>
          </a:ln>
        </p:spPr>
      </p:sp>
      <p:sp>
        <p:nvSpPr>
          <p:cNvPr id="4" name="Text 2"/>
          <p:cNvSpPr/>
          <p:nvPr/>
        </p:nvSpPr>
        <p:spPr>
          <a:xfrm>
            <a:off x="457200" y="182880"/>
            <a:ext cx="502920" cy="274320"/>
          </a:xfrm>
          <a:prstGeom prst="rect">
            <a:avLst/>
          </a:prstGeom>
          <a:noFill/>
          <a:ln/>
        </p:spPr>
        <p:txBody>
          <a:bodyPr wrap="square" rtlCol="0" anchor="ctr"/>
          <a:lstStyle/>
          <a:p>
            <a:pPr marL="0" indent="0" algn="ctr">
              <a:buNone/>
            </a:pPr>
            <a:r>
              <a:rPr lang="en-US" sz="900" b="1" dirty="0">
                <a:solidFill>
                  <a:srgbClr val="2563EB"/>
                </a:solidFill>
                <a:latin typeface="Arial Black" pitchFamily="34" charset="0"/>
                <a:ea typeface="Arial Black" pitchFamily="34" charset="-122"/>
                <a:cs typeface="Arial Black" pitchFamily="34" charset="-120"/>
              </a:rPr>
              <a:t>06</a:t>
            </a:r>
            <a:endParaRPr lang="en-US" sz="900" dirty="0"/>
          </a:p>
        </p:txBody>
      </p:sp>
      <p:sp>
        <p:nvSpPr>
          <p:cNvPr id="5" name="Text 3"/>
          <p:cNvSpPr/>
          <p:nvPr/>
        </p:nvSpPr>
        <p:spPr>
          <a:xfrm>
            <a:off x="1078992" y="164592"/>
            <a:ext cx="7772400" cy="438912"/>
          </a:xfrm>
          <a:prstGeom prst="rect">
            <a:avLst/>
          </a:prstGeom>
          <a:noFill/>
          <a:ln/>
        </p:spPr>
        <p:txBody>
          <a:bodyPr wrap="square" lIns="0" tIns="0" rIns="0" bIns="0" rtlCol="0" anchor="ctr"/>
          <a:lstStyle/>
          <a:p>
            <a:pPr marL="0" indent="0">
              <a:buNone/>
            </a:pPr>
            <a:r>
              <a:rPr lang="en-US" sz="2200" b="1" dirty="0">
                <a:solidFill>
                  <a:srgbClr val="1E3A5F"/>
                </a:solidFill>
                <a:latin typeface="Arial Black" pitchFamily="34" charset="0"/>
                <a:ea typeface="Arial Black" pitchFamily="34" charset="-122"/>
                <a:cs typeface="Arial Black" pitchFamily="34" charset="-120"/>
              </a:rPr>
              <a:t>AI Prompts Used to Generate Code  —  Part 1 of 2</a:t>
            </a:r>
            <a:endParaRPr lang="en-US" sz="2200" dirty="0"/>
          </a:p>
        </p:txBody>
      </p:sp>
      <p:sp>
        <p:nvSpPr>
          <p:cNvPr id="6" name="Shape 4"/>
          <p:cNvSpPr/>
          <p:nvPr/>
        </p:nvSpPr>
        <p:spPr>
          <a:xfrm>
            <a:off x="320040" y="749808"/>
            <a:ext cx="8503920" cy="22860"/>
          </a:xfrm>
          <a:prstGeom prst="rect">
            <a:avLst/>
          </a:prstGeom>
          <a:solidFill>
            <a:srgbClr val="2563EB">
              <a:alpha val="50000"/>
            </a:srgbClr>
          </a:solidFill>
          <a:ln w="12700">
            <a:solidFill>
              <a:srgbClr val="2563EB"/>
            </a:solidFill>
            <a:prstDash val="solid"/>
          </a:ln>
        </p:spPr>
      </p:sp>
      <p:sp>
        <p:nvSpPr>
          <p:cNvPr id="7" name="Shape 5"/>
          <p:cNvSpPr/>
          <p:nvPr/>
        </p:nvSpPr>
        <p:spPr>
          <a:xfrm>
            <a:off x="320040" y="987552"/>
            <a:ext cx="8503920" cy="1225296"/>
          </a:xfrm>
          <a:prstGeom prst="rect">
            <a:avLst/>
          </a:prstGeom>
          <a:solidFill>
            <a:srgbClr val="F0F4FF"/>
          </a:solidFill>
          <a:ln w="6350">
            <a:solidFill>
              <a:srgbClr val="CBD5E1"/>
            </a:solidFill>
            <a:prstDash val="solid"/>
          </a:ln>
          <a:effectLst>
            <a:outerShdw blurRad="101600" dist="25400" dir="8100000" algn="bl" rotWithShape="0">
              <a:srgbClr val="94A3B8">
                <a:alpha val="25000"/>
              </a:srgbClr>
            </a:outerShdw>
          </a:effectLst>
        </p:spPr>
      </p:sp>
      <p:sp>
        <p:nvSpPr>
          <p:cNvPr id="8" name="Shape 6"/>
          <p:cNvSpPr/>
          <p:nvPr/>
        </p:nvSpPr>
        <p:spPr>
          <a:xfrm>
            <a:off x="320040" y="987552"/>
            <a:ext cx="8503920" cy="36576"/>
          </a:xfrm>
          <a:prstGeom prst="rect">
            <a:avLst/>
          </a:prstGeom>
          <a:solidFill>
            <a:srgbClr val="2563EB"/>
          </a:solidFill>
          <a:ln w="12700">
            <a:solidFill>
              <a:srgbClr val="2563EB"/>
            </a:solidFill>
            <a:prstDash val="solid"/>
          </a:ln>
        </p:spPr>
      </p:sp>
      <p:sp>
        <p:nvSpPr>
          <p:cNvPr id="9" name="Shape 7"/>
          <p:cNvSpPr/>
          <p:nvPr/>
        </p:nvSpPr>
        <p:spPr>
          <a:xfrm>
            <a:off x="420624" y="1344168"/>
            <a:ext cx="502920" cy="502920"/>
          </a:xfrm>
          <a:prstGeom prst="ellipse">
            <a:avLst/>
          </a:prstGeom>
          <a:solidFill>
            <a:srgbClr val="2563EB"/>
          </a:solidFill>
          <a:ln/>
        </p:spPr>
      </p:sp>
      <p:sp>
        <p:nvSpPr>
          <p:cNvPr id="10" name="Text 8"/>
          <p:cNvSpPr/>
          <p:nvPr/>
        </p:nvSpPr>
        <p:spPr>
          <a:xfrm>
            <a:off x="420624" y="1380744"/>
            <a:ext cx="502920" cy="429768"/>
          </a:xfrm>
          <a:prstGeom prst="rect">
            <a:avLst/>
          </a:prstGeom>
          <a:noFill/>
          <a:ln/>
        </p:spPr>
        <p:txBody>
          <a:bodyPr wrap="square"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1</a:t>
            </a:r>
            <a:endParaRPr lang="en-US" sz="1600" dirty="0"/>
          </a:p>
        </p:txBody>
      </p:sp>
      <p:sp>
        <p:nvSpPr>
          <p:cNvPr id="11" name="Text 9"/>
          <p:cNvSpPr/>
          <p:nvPr/>
        </p:nvSpPr>
        <p:spPr>
          <a:xfrm>
            <a:off x="1060704" y="1078992"/>
            <a:ext cx="7552944" cy="310896"/>
          </a:xfrm>
          <a:prstGeom prst="rect">
            <a:avLst/>
          </a:prstGeom>
          <a:noFill/>
          <a:ln/>
        </p:spPr>
        <p:txBody>
          <a:bodyPr wrap="square" rtlCol="0" anchor="ctr"/>
          <a:lstStyle/>
          <a:p>
            <a:pPr marL="0" indent="0">
              <a:buNone/>
            </a:pPr>
            <a:r>
              <a:rPr lang="en-US" sz="1300" b="1" dirty="0">
                <a:solidFill>
                  <a:srgbClr val="2563EB"/>
                </a:solidFill>
                <a:latin typeface="Arial Black" pitchFamily="34" charset="0"/>
                <a:ea typeface="Arial Black" pitchFamily="34" charset="-122"/>
                <a:cs typeface="Arial Black" pitchFamily="34" charset="-120"/>
              </a:rPr>
              <a:t>Full System Architecture Prompt</a:t>
            </a:r>
            <a:endParaRPr lang="en-US" sz="1300" dirty="0"/>
          </a:p>
        </p:txBody>
      </p:sp>
      <p:sp>
        <p:nvSpPr>
          <p:cNvPr id="12" name="Text 10"/>
          <p:cNvSpPr/>
          <p:nvPr/>
        </p:nvSpPr>
        <p:spPr>
          <a:xfrm>
            <a:off x="1060704" y="1408176"/>
            <a:ext cx="7516368" cy="713232"/>
          </a:xfrm>
          <a:prstGeom prst="rect">
            <a:avLst/>
          </a:prstGeom>
          <a:noFill/>
          <a:ln/>
        </p:spPr>
        <p:txBody>
          <a:bodyPr wrap="square" rtlCol="0" anchor="ctr"/>
          <a:lstStyle/>
          <a:p>
            <a:pPr marL="0" indent="0">
              <a:buNone/>
            </a:pPr>
            <a:r>
              <a:rPr lang="en-US" sz="950" i="1" dirty="0">
                <a:solidFill>
                  <a:srgbClr val="475569"/>
                </a:solidFill>
                <a:latin typeface="Calibri" pitchFamily="34" charset="0"/>
                <a:ea typeface="Calibri" pitchFamily="34" charset="-122"/>
                <a:cs typeface="Calibri" pitchFamily="34" charset="-120"/>
              </a:rPr>
              <a:t>"Build a complete local services platform called ServNex with user &amp; provider registration (with skills/GPS location), search with filters, booking system, real-time chat via Socket.io, Razorpay payment integration, rating &amp; reviews, live GPS tracking, and admin dashboard. Use React.js + Node.js + Express + MongoDB."</a:t>
            </a:r>
            <a:endParaRPr lang="en-US" sz="950" dirty="0"/>
          </a:p>
        </p:txBody>
      </p:sp>
      <p:sp>
        <p:nvSpPr>
          <p:cNvPr id="13" name="Shape 11"/>
          <p:cNvSpPr/>
          <p:nvPr/>
        </p:nvSpPr>
        <p:spPr>
          <a:xfrm>
            <a:off x="320040" y="2340864"/>
            <a:ext cx="8503920" cy="1225296"/>
          </a:xfrm>
          <a:prstGeom prst="rect">
            <a:avLst/>
          </a:prstGeom>
          <a:solidFill>
            <a:srgbClr val="F0F4FF"/>
          </a:solidFill>
          <a:ln w="6350">
            <a:solidFill>
              <a:srgbClr val="CBD5E1"/>
            </a:solidFill>
            <a:prstDash val="solid"/>
          </a:ln>
          <a:effectLst>
            <a:outerShdw blurRad="101600" dist="25400" dir="8100000" algn="bl" rotWithShape="0">
              <a:srgbClr val="94A3B8">
                <a:alpha val="25000"/>
              </a:srgbClr>
            </a:outerShdw>
          </a:effectLst>
        </p:spPr>
      </p:sp>
      <p:sp>
        <p:nvSpPr>
          <p:cNvPr id="14" name="Shape 12"/>
          <p:cNvSpPr/>
          <p:nvPr/>
        </p:nvSpPr>
        <p:spPr>
          <a:xfrm>
            <a:off x="320040" y="2340864"/>
            <a:ext cx="8503920" cy="36576"/>
          </a:xfrm>
          <a:prstGeom prst="rect">
            <a:avLst/>
          </a:prstGeom>
          <a:solidFill>
            <a:srgbClr val="059669"/>
          </a:solidFill>
          <a:ln w="12700">
            <a:solidFill>
              <a:srgbClr val="059669"/>
            </a:solidFill>
            <a:prstDash val="solid"/>
          </a:ln>
        </p:spPr>
      </p:sp>
      <p:sp>
        <p:nvSpPr>
          <p:cNvPr id="15" name="Shape 13"/>
          <p:cNvSpPr/>
          <p:nvPr/>
        </p:nvSpPr>
        <p:spPr>
          <a:xfrm>
            <a:off x="420624" y="2697480"/>
            <a:ext cx="502920" cy="502920"/>
          </a:xfrm>
          <a:prstGeom prst="ellipse">
            <a:avLst/>
          </a:prstGeom>
          <a:solidFill>
            <a:srgbClr val="059669"/>
          </a:solidFill>
          <a:ln/>
        </p:spPr>
      </p:sp>
      <p:sp>
        <p:nvSpPr>
          <p:cNvPr id="16" name="Text 14"/>
          <p:cNvSpPr/>
          <p:nvPr/>
        </p:nvSpPr>
        <p:spPr>
          <a:xfrm>
            <a:off x="420624" y="2734056"/>
            <a:ext cx="502920" cy="429768"/>
          </a:xfrm>
          <a:prstGeom prst="rect">
            <a:avLst/>
          </a:prstGeom>
          <a:noFill/>
          <a:ln/>
        </p:spPr>
        <p:txBody>
          <a:bodyPr wrap="square"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2</a:t>
            </a:r>
            <a:endParaRPr lang="en-US" sz="1600" dirty="0"/>
          </a:p>
        </p:txBody>
      </p:sp>
      <p:sp>
        <p:nvSpPr>
          <p:cNvPr id="17" name="Text 15"/>
          <p:cNvSpPr/>
          <p:nvPr/>
        </p:nvSpPr>
        <p:spPr>
          <a:xfrm>
            <a:off x="1060704" y="2432304"/>
            <a:ext cx="7552944" cy="310896"/>
          </a:xfrm>
          <a:prstGeom prst="rect">
            <a:avLst/>
          </a:prstGeom>
          <a:noFill/>
          <a:ln/>
        </p:spPr>
        <p:txBody>
          <a:bodyPr wrap="square" rtlCol="0" anchor="ctr"/>
          <a:lstStyle/>
          <a:p>
            <a:pPr marL="0" indent="0">
              <a:buNone/>
            </a:pPr>
            <a:r>
              <a:rPr lang="en-US" sz="1300" b="1" dirty="0">
                <a:solidFill>
                  <a:srgbClr val="059669"/>
                </a:solidFill>
                <a:latin typeface="Arial Black" pitchFamily="34" charset="0"/>
                <a:ea typeface="Arial Black" pitchFamily="34" charset="-122"/>
                <a:cs typeface="Arial Black" pitchFamily="34" charset="-120"/>
              </a:rPr>
              <a:t>Backend Models &amp; REST API Prompt</a:t>
            </a:r>
            <a:endParaRPr lang="en-US" sz="1300" dirty="0"/>
          </a:p>
        </p:txBody>
      </p:sp>
      <p:sp>
        <p:nvSpPr>
          <p:cNvPr id="18" name="Text 16"/>
          <p:cNvSpPr/>
          <p:nvPr/>
        </p:nvSpPr>
        <p:spPr>
          <a:xfrm>
            <a:off x="1060704" y="2761488"/>
            <a:ext cx="7516368" cy="713232"/>
          </a:xfrm>
          <a:prstGeom prst="rect">
            <a:avLst/>
          </a:prstGeom>
          <a:noFill/>
          <a:ln/>
        </p:spPr>
        <p:txBody>
          <a:bodyPr wrap="square" rtlCol="0" anchor="ctr"/>
          <a:lstStyle/>
          <a:p>
            <a:pPr marL="0" indent="0">
              <a:buNone/>
            </a:pPr>
            <a:r>
              <a:rPr lang="en-US" sz="950" i="1" dirty="0">
                <a:solidFill>
                  <a:srgbClr val="475569"/>
                </a:solidFill>
                <a:latin typeface="Calibri" pitchFamily="34" charset="0"/>
                <a:ea typeface="Calibri" pitchFamily="34" charset="-122"/>
                <a:cs typeface="Calibri" pitchFamily="34" charset="-120"/>
              </a:rPr>
              <a:t>"Create MongoDB Mongoose models for User, Provider, Booking, Message, Payment, Review with validation and geospatial index. Build REST controllers for JWT auth, provider search with Haversine distance, booking CRUD with status history, and Razorpay order creation + HMAC signature verification."</a:t>
            </a:r>
            <a:endParaRPr lang="en-US" sz="950" dirty="0"/>
          </a:p>
        </p:txBody>
      </p:sp>
      <p:sp>
        <p:nvSpPr>
          <p:cNvPr id="19" name="Shape 17"/>
          <p:cNvSpPr/>
          <p:nvPr/>
        </p:nvSpPr>
        <p:spPr>
          <a:xfrm>
            <a:off x="320040" y="3694176"/>
            <a:ext cx="8503920" cy="1225296"/>
          </a:xfrm>
          <a:prstGeom prst="rect">
            <a:avLst/>
          </a:prstGeom>
          <a:solidFill>
            <a:srgbClr val="F0F4FF"/>
          </a:solidFill>
          <a:ln w="6350">
            <a:solidFill>
              <a:srgbClr val="CBD5E1"/>
            </a:solidFill>
            <a:prstDash val="solid"/>
          </a:ln>
          <a:effectLst>
            <a:outerShdw blurRad="101600" dist="25400" dir="8100000" algn="bl" rotWithShape="0">
              <a:srgbClr val="94A3B8">
                <a:alpha val="25000"/>
              </a:srgbClr>
            </a:outerShdw>
          </a:effectLst>
        </p:spPr>
      </p:sp>
      <p:sp>
        <p:nvSpPr>
          <p:cNvPr id="20" name="Shape 18"/>
          <p:cNvSpPr/>
          <p:nvPr/>
        </p:nvSpPr>
        <p:spPr>
          <a:xfrm>
            <a:off x="320040" y="3694176"/>
            <a:ext cx="8503920" cy="36576"/>
          </a:xfrm>
          <a:prstGeom prst="rect">
            <a:avLst/>
          </a:prstGeom>
          <a:solidFill>
            <a:srgbClr val="EA580C"/>
          </a:solidFill>
          <a:ln w="12700">
            <a:solidFill>
              <a:srgbClr val="EA580C"/>
            </a:solidFill>
            <a:prstDash val="solid"/>
          </a:ln>
        </p:spPr>
      </p:sp>
      <p:sp>
        <p:nvSpPr>
          <p:cNvPr id="21" name="Shape 19"/>
          <p:cNvSpPr/>
          <p:nvPr/>
        </p:nvSpPr>
        <p:spPr>
          <a:xfrm>
            <a:off x="420624" y="4050792"/>
            <a:ext cx="502920" cy="502920"/>
          </a:xfrm>
          <a:prstGeom prst="ellipse">
            <a:avLst/>
          </a:prstGeom>
          <a:solidFill>
            <a:srgbClr val="EA580C"/>
          </a:solidFill>
          <a:ln/>
        </p:spPr>
      </p:sp>
      <p:sp>
        <p:nvSpPr>
          <p:cNvPr id="22" name="Text 20"/>
          <p:cNvSpPr/>
          <p:nvPr/>
        </p:nvSpPr>
        <p:spPr>
          <a:xfrm>
            <a:off x="420624" y="4087368"/>
            <a:ext cx="502920" cy="429768"/>
          </a:xfrm>
          <a:prstGeom prst="rect">
            <a:avLst/>
          </a:prstGeom>
          <a:noFill/>
          <a:ln/>
        </p:spPr>
        <p:txBody>
          <a:bodyPr wrap="square"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3</a:t>
            </a:r>
            <a:endParaRPr lang="en-US" sz="1600" dirty="0"/>
          </a:p>
        </p:txBody>
      </p:sp>
      <p:sp>
        <p:nvSpPr>
          <p:cNvPr id="23" name="Text 21"/>
          <p:cNvSpPr/>
          <p:nvPr/>
        </p:nvSpPr>
        <p:spPr>
          <a:xfrm>
            <a:off x="1060704" y="3785616"/>
            <a:ext cx="7552944" cy="310896"/>
          </a:xfrm>
          <a:prstGeom prst="rect">
            <a:avLst/>
          </a:prstGeom>
          <a:noFill/>
          <a:ln/>
        </p:spPr>
        <p:txBody>
          <a:bodyPr wrap="square" rtlCol="0" anchor="ctr"/>
          <a:lstStyle/>
          <a:p>
            <a:pPr marL="0" indent="0">
              <a:buNone/>
            </a:pPr>
            <a:r>
              <a:rPr lang="en-US" sz="1300" b="1" dirty="0">
                <a:solidFill>
                  <a:srgbClr val="EA580C"/>
                </a:solidFill>
                <a:latin typeface="Arial Black" pitchFamily="34" charset="0"/>
                <a:ea typeface="Arial Black" pitchFamily="34" charset="-122"/>
                <a:cs typeface="Arial Black" pitchFamily="34" charset="-120"/>
              </a:rPr>
              <a:t>Socket.io Real-Time Features Prompt</a:t>
            </a:r>
            <a:endParaRPr lang="en-US" sz="1300" dirty="0"/>
          </a:p>
        </p:txBody>
      </p:sp>
      <p:sp>
        <p:nvSpPr>
          <p:cNvPr id="24" name="Text 22"/>
          <p:cNvSpPr/>
          <p:nvPr/>
        </p:nvSpPr>
        <p:spPr>
          <a:xfrm>
            <a:off x="1060704" y="4114800"/>
            <a:ext cx="7516368" cy="713232"/>
          </a:xfrm>
          <a:prstGeom prst="rect">
            <a:avLst/>
          </a:prstGeom>
          <a:noFill/>
          <a:ln/>
        </p:spPr>
        <p:txBody>
          <a:bodyPr wrap="square" rtlCol="0" anchor="ctr"/>
          <a:lstStyle/>
          <a:p>
            <a:pPr marL="0" indent="0">
              <a:buNone/>
            </a:pPr>
            <a:r>
              <a:rPr lang="en-US" sz="950" i="1" dirty="0">
                <a:solidFill>
                  <a:srgbClr val="475569"/>
                </a:solidFill>
                <a:latin typeface="Calibri" pitchFamily="34" charset="0"/>
                <a:ea typeface="Calibri" pitchFamily="34" charset="-122"/>
                <a:cs typeface="Calibri" pitchFamily="34" charset="-120"/>
              </a:rPr>
              <a:t>"Implement Socket.io to handle: user online/offline status, chat rooms by userId pair, message send/receive with optimistic updates, typing indicators, read receipts, provider live GPS location broadcasting to booking rooms, and booking status push notifications to users."</a:t>
            </a:r>
            <a:endParaRPr lang="en-US" sz="950" dirty="0"/>
          </a:p>
        </p:txBody>
      </p:sp>
      <p:sp>
        <p:nvSpPr>
          <p:cNvPr id="25" name="Shape 23"/>
          <p:cNvSpPr/>
          <p:nvPr/>
        </p:nvSpPr>
        <p:spPr>
          <a:xfrm>
            <a:off x="0" y="4956048"/>
            <a:ext cx="9144000" cy="187452"/>
          </a:xfrm>
          <a:prstGeom prst="rect">
            <a:avLst/>
          </a:prstGeom>
          <a:solidFill>
            <a:srgbClr val="E2E8F0"/>
          </a:solidFill>
          <a:ln w="12700">
            <a:solidFill>
              <a:srgbClr val="CBD5E1"/>
            </a:solidFill>
            <a:prstDash val="solid"/>
          </a:ln>
        </p:spPr>
      </p:sp>
      <p:sp>
        <p:nvSpPr>
          <p:cNvPr id="26" name="Text 24"/>
          <p:cNvSpPr/>
          <p:nvPr/>
        </p:nvSpPr>
        <p:spPr>
          <a:xfrm>
            <a:off x="320040" y="4983480"/>
            <a:ext cx="5486400" cy="13716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ServNex  —  Local Services Platform</a:t>
            </a:r>
            <a:endParaRPr lang="en-US" sz="800" dirty="0"/>
          </a:p>
        </p:txBody>
      </p:sp>
      <p:sp>
        <p:nvSpPr>
          <p:cNvPr id="27" name="Text 25"/>
          <p:cNvSpPr/>
          <p:nvPr/>
        </p:nvSpPr>
        <p:spPr>
          <a:xfrm>
            <a:off x="7772400" y="4983480"/>
            <a:ext cx="1051560" cy="137160"/>
          </a:xfrm>
          <a:prstGeom prst="rect">
            <a:avLst/>
          </a:prstGeom>
          <a:noFill/>
          <a:ln/>
        </p:spPr>
        <p:txBody>
          <a:bodyPr wrap="square"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6 / 11</a:t>
            </a:r>
            <a:endParaRPr lang="en-US" sz="800" dirty="0"/>
          </a:p>
        </p:txBody>
      </p:sp>
      <p:sp>
        <p:nvSpPr>
          <p:cNvPr id="28" name="Shape 26"/>
          <p:cNvSpPr/>
          <p:nvPr/>
        </p:nvSpPr>
        <p:spPr>
          <a:xfrm>
            <a:off x="0" y="4956048"/>
            <a:ext cx="4987636" cy="27432"/>
          </a:xfrm>
          <a:prstGeom prst="rect">
            <a:avLst/>
          </a:prstGeom>
          <a:solidFill>
            <a:srgbClr val="2563EB"/>
          </a:solidFill>
          <a:ln w="12700">
            <a:solidFill>
              <a:srgbClr val="2563EB"/>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320040" y="182880"/>
            <a:ext cx="54864" cy="566928"/>
          </a:xfrm>
          <a:prstGeom prst="rect">
            <a:avLst/>
          </a:prstGeom>
          <a:solidFill>
            <a:srgbClr val="2563EB"/>
          </a:solidFill>
          <a:ln w="12700">
            <a:solidFill>
              <a:srgbClr val="2563EB"/>
            </a:solidFill>
            <a:prstDash val="solid"/>
          </a:ln>
        </p:spPr>
      </p:sp>
      <p:sp>
        <p:nvSpPr>
          <p:cNvPr id="3" name="Shape 1"/>
          <p:cNvSpPr/>
          <p:nvPr/>
        </p:nvSpPr>
        <p:spPr>
          <a:xfrm>
            <a:off x="457200" y="182880"/>
            <a:ext cx="502920" cy="274320"/>
          </a:xfrm>
          <a:prstGeom prst="rect">
            <a:avLst/>
          </a:prstGeom>
          <a:solidFill>
            <a:srgbClr val="2563EB">
              <a:alpha val="20000"/>
            </a:srgbClr>
          </a:solidFill>
          <a:ln w="6350">
            <a:solidFill>
              <a:srgbClr val="2563EB"/>
            </a:solidFill>
            <a:prstDash val="solid"/>
          </a:ln>
        </p:spPr>
      </p:sp>
      <p:sp>
        <p:nvSpPr>
          <p:cNvPr id="4" name="Text 2"/>
          <p:cNvSpPr/>
          <p:nvPr/>
        </p:nvSpPr>
        <p:spPr>
          <a:xfrm>
            <a:off x="457200" y="182880"/>
            <a:ext cx="502920" cy="274320"/>
          </a:xfrm>
          <a:prstGeom prst="rect">
            <a:avLst/>
          </a:prstGeom>
          <a:noFill/>
          <a:ln/>
        </p:spPr>
        <p:txBody>
          <a:bodyPr wrap="square" rtlCol="0" anchor="ctr"/>
          <a:lstStyle/>
          <a:p>
            <a:pPr marL="0" indent="0" algn="ctr">
              <a:buNone/>
            </a:pPr>
            <a:r>
              <a:rPr lang="en-US" sz="900" b="1" dirty="0">
                <a:solidFill>
                  <a:srgbClr val="2563EB"/>
                </a:solidFill>
                <a:latin typeface="Arial Black" pitchFamily="34" charset="0"/>
                <a:ea typeface="Arial Black" pitchFamily="34" charset="-122"/>
                <a:cs typeface="Arial Black" pitchFamily="34" charset="-120"/>
              </a:rPr>
              <a:t>06b</a:t>
            </a:r>
            <a:endParaRPr lang="en-US" sz="900" dirty="0"/>
          </a:p>
        </p:txBody>
      </p:sp>
      <p:sp>
        <p:nvSpPr>
          <p:cNvPr id="5" name="Text 3"/>
          <p:cNvSpPr/>
          <p:nvPr/>
        </p:nvSpPr>
        <p:spPr>
          <a:xfrm>
            <a:off x="1078992" y="164592"/>
            <a:ext cx="7772400" cy="438912"/>
          </a:xfrm>
          <a:prstGeom prst="rect">
            <a:avLst/>
          </a:prstGeom>
          <a:noFill/>
          <a:ln/>
        </p:spPr>
        <p:txBody>
          <a:bodyPr wrap="square" lIns="0" tIns="0" rIns="0" bIns="0" rtlCol="0" anchor="ctr"/>
          <a:lstStyle/>
          <a:p>
            <a:pPr marL="0" indent="0">
              <a:buNone/>
            </a:pPr>
            <a:r>
              <a:rPr lang="en-US" sz="2200" b="1" dirty="0">
                <a:solidFill>
                  <a:srgbClr val="1E3A5F"/>
                </a:solidFill>
                <a:latin typeface="Arial Black" pitchFamily="34" charset="0"/>
                <a:ea typeface="Arial Black" pitchFamily="34" charset="-122"/>
                <a:cs typeface="Arial Black" pitchFamily="34" charset="-120"/>
              </a:rPr>
              <a:t>AI Prompts Used to Generate Code  —  Part 2 of 2</a:t>
            </a:r>
            <a:endParaRPr lang="en-US" sz="2200" dirty="0"/>
          </a:p>
        </p:txBody>
      </p:sp>
      <p:sp>
        <p:nvSpPr>
          <p:cNvPr id="6" name="Shape 4"/>
          <p:cNvSpPr/>
          <p:nvPr/>
        </p:nvSpPr>
        <p:spPr>
          <a:xfrm>
            <a:off x="320040" y="749808"/>
            <a:ext cx="8503920" cy="22860"/>
          </a:xfrm>
          <a:prstGeom prst="rect">
            <a:avLst/>
          </a:prstGeom>
          <a:solidFill>
            <a:srgbClr val="2563EB">
              <a:alpha val="50000"/>
            </a:srgbClr>
          </a:solidFill>
          <a:ln w="12700">
            <a:solidFill>
              <a:srgbClr val="2563EB"/>
            </a:solidFill>
            <a:prstDash val="solid"/>
          </a:ln>
        </p:spPr>
      </p:sp>
      <p:sp>
        <p:nvSpPr>
          <p:cNvPr id="7" name="Shape 5"/>
          <p:cNvSpPr/>
          <p:nvPr/>
        </p:nvSpPr>
        <p:spPr>
          <a:xfrm>
            <a:off x="320040" y="987552"/>
            <a:ext cx="8503920" cy="1225296"/>
          </a:xfrm>
          <a:prstGeom prst="rect">
            <a:avLst/>
          </a:prstGeom>
          <a:solidFill>
            <a:srgbClr val="F0F4FF"/>
          </a:solidFill>
          <a:ln w="6350">
            <a:solidFill>
              <a:srgbClr val="CBD5E1"/>
            </a:solidFill>
            <a:prstDash val="solid"/>
          </a:ln>
          <a:effectLst>
            <a:outerShdw blurRad="101600" dist="25400" dir="8100000" algn="bl" rotWithShape="0">
              <a:srgbClr val="94A3B8">
                <a:alpha val="25000"/>
              </a:srgbClr>
            </a:outerShdw>
          </a:effectLst>
        </p:spPr>
      </p:sp>
      <p:sp>
        <p:nvSpPr>
          <p:cNvPr id="8" name="Shape 6"/>
          <p:cNvSpPr/>
          <p:nvPr/>
        </p:nvSpPr>
        <p:spPr>
          <a:xfrm>
            <a:off x="320040" y="987552"/>
            <a:ext cx="8503920" cy="36576"/>
          </a:xfrm>
          <a:prstGeom prst="rect">
            <a:avLst/>
          </a:prstGeom>
          <a:solidFill>
            <a:srgbClr val="7C3AED"/>
          </a:solidFill>
          <a:ln w="12700">
            <a:solidFill>
              <a:srgbClr val="7C3AED"/>
            </a:solidFill>
            <a:prstDash val="solid"/>
          </a:ln>
        </p:spPr>
      </p:sp>
      <p:sp>
        <p:nvSpPr>
          <p:cNvPr id="9" name="Shape 7"/>
          <p:cNvSpPr/>
          <p:nvPr/>
        </p:nvSpPr>
        <p:spPr>
          <a:xfrm>
            <a:off x="420624" y="1344168"/>
            <a:ext cx="502920" cy="502920"/>
          </a:xfrm>
          <a:prstGeom prst="ellipse">
            <a:avLst/>
          </a:prstGeom>
          <a:solidFill>
            <a:srgbClr val="7C3AED"/>
          </a:solidFill>
          <a:ln/>
        </p:spPr>
      </p:sp>
      <p:sp>
        <p:nvSpPr>
          <p:cNvPr id="10" name="Text 8"/>
          <p:cNvSpPr/>
          <p:nvPr/>
        </p:nvSpPr>
        <p:spPr>
          <a:xfrm>
            <a:off x="420624" y="1380744"/>
            <a:ext cx="502920" cy="429768"/>
          </a:xfrm>
          <a:prstGeom prst="rect">
            <a:avLst/>
          </a:prstGeom>
          <a:noFill/>
          <a:ln/>
        </p:spPr>
        <p:txBody>
          <a:bodyPr wrap="square"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4</a:t>
            </a:r>
            <a:endParaRPr lang="en-US" sz="1600" dirty="0"/>
          </a:p>
        </p:txBody>
      </p:sp>
      <p:sp>
        <p:nvSpPr>
          <p:cNvPr id="11" name="Text 9"/>
          <p:cNvSpPr/>
          <p:nvPr/>
        </p:nvSpPr>
        <p:spPr>
          <a:xfrm>
            <a:off x="1060704" y="1078992"/>
            <a:ext cx="7552944" cy="310896"/>
          </a:xfrm>
          <a:prstGeom prst="rect">
            <a:avLst/>
          </a:prstGeom>
          <a:noFill/>
          <a:ln/>
        </p:spPr>
        <p:txBody>
          <a:bodyPr wrap="square" rtlCol="0" anchor="ctr"/>
          <a:lstStyle/>
          <a:p>
            <a:pPr marL="0" indent="0">
              <a:buNone/>
            </a:pPr>
            <a:r>
              <a:rPr lang="en-US" sz="1300" b="1" dirty="0">
                <a:solidFill>
                  <a:srgbClr val="7C3AED"/>
                </a:solidFill>
                <a:latin typeface="Arial Black" pitchFamily="34" charset="0"/>
                <a:ea typeface="Arial Black" pitchFamily="34" charset="-122"/>
                <a:cs typeface="Arial Black" pitchFamily="34" charset="-120"/>
              </a:rPr>
              <a:t>React Frontend Pages &amp; Components Prompt</a:t>
            </a:r>
            <a:endParaRPr lang="en-US" sz="1300" dirty="0"/>
          </a:p>
        </p:txBody>
      </p:sp>
      <p:sp>
        <p:nvSpPr>
          <p:cNvPr id="12" name="Text 10"/>
          <p:cNvSpPr/>
          <p:nvPr/>
        </p:nvSpPr>
        <p:spPr>
          <a:xfrm>
            <a:off x="1060704" y="1408176"/>
            <a:ext cx="7516368" cy="713232"/>
          </a:xfrm>
          <a:prstGeom prst="rect">
            <a:avLst/>
          </a:prstGeom>
          <a:noFill/>
          <a:ln/>
        </p:spPr>
        <p:txBody>
          <a:bodyPr wrap="square" rtlCol="0" anchor="ctr"/>
          <a:lstStyle/>
          <a:p>
            <a:pPr marL="0" indent="0">
              <a:buNone/>
            </a:pPr>
            <a:r>
              <a:rPr lang="en-US" sz="950" i="1" dirty="0">
                <a:solidFill>
                  <a:srgbClr val="475569"/>
                </a:solidFill>
                <a:latin typeface="Calibri" pitchFamily="34" charset="0"/>
                <a:ea typeface="Calibri" pitchFamily="34" charset="-122"/>
                <a:cs typeface="Calibri" pitchFamily="34" charset="-120"/>
              </a:rPr>
              <a:t>"Build React pages: Landing (hero, category grid, top providers), Search (sidebar filters, provider cards), Provider Detail (tabs: About/Skills/Reviews), Booking (date/time picker, address), User &amp; Provider Dashboards, multi-step Provider Onboarding with GPS, real-time Chat, and Admin Panel with approval workflow."</a:t>
            </a:r>
            <a:endParaRPr lang="en-US" sz="950" dirty="0"/>
          </a:p>
        </p:txBody>
      </p:sp>
      <p:sp>
        <p:nvSpPr>
          <p:cNvPr id="13" name="Shape 11"/>
          <p:cNvSpPr/>
          <p:nvPr/>
        </p:nvSpPr>
        <p:spPr>
          <a:xfrm>
            <a:off x="320040" y="2340864"/>
            <a:ext cx="8503920" cy="1225296"/>
          </a:xfrm>
          <a:prstGeom prst="rect">
            <a:avLst/>
          </a:prstGeom>
          <a:solidFill>
            <a:srgbClr val="F0F4FF"/>
          </a:solidFill>
          <a:ln w="6350">
            <a:solidFill>
              <a:srgbClr val="CBD5E1"/>
            </a:solidFill>
            <a:prstDash val="solid"/>
          </a:ln>
          <a:effectLst>
            <a:outerShdw blurRad="101600" dist="25400" dir="8100000" algn="bl" rotWithShape="0">
              <a:srgbClr val="94A3B8">
                <a:alpha val="25000"/>
              </a:srgbClr>
            </a:outerShdw>
          </a:effectLst>
        </p:spPr>
      </p:sp>
      <p:sp>
        <p:nvSpPr>
          <p:cNvPr id="14" name="Shape 12"/>
          <p:cNvSpPr/>
          <p:nvPr/>
        </p:nvSpPr>
        <p:spPr>
          <a:xfrm>
            <a:off x="320040" y="2340864"/>
            <a:ext cx="8503920" cy="36576"/>
          </a:xfrm>
          <a:prstGeom prst="rect">
            <a:avLst/>
          </a:prstGeom>
          <a:solidFill>
            <a:srgbClr val="0891B2"/>
          </a:solidFill>
          <a:ln w="12700">
            <a:solidFill>
              <a:srgbClr val="0891B2"/>
            </a:solidFill>
            <a:prstDash val="solid"/>
          </a:ln>
        </p:spPr>
      </p:sp>
      <p:sp>
        <p:nvSpPr>
          <p:cNvPr id="15" name="Shape 13"/>
          <p:cNvSpPr/>
          <p:nvPr/>
        </p:nvSpPr>
        <p:spPr>
          <a:xfrm>
            <a:off x="420624" y="2697480"/>
            <a:ext cx="502920" cy="502920"/>
          </a:xfrm>
          <a:prstGeom prst="ellipse">
            <a:avLst/>
          </a:prstGeom>
          <a:solidFill>
            <a:srgbClr val="0891B2"/>
          </a:solidFill>
          <a:ln/>
        </p:spPr>
      </p:sp>
      <p:sp>
        <p:nvSpPr>
          <p:cNvPr id="16" name="Text 14"/>
          <p:cNvSpPr/>
          <p:nvPr/>
        </p:nvSpPr>
        <p:spPr>
          <a:xfrm>
            <a:off x="420624" y="2734056"/>
            <a:ext cx="502920" cy="429768"/>
          </a:xfrm>
          <a:prstGeom prst="rect">
            <a:avLst/>
          </a:prstGeom>
          <a:noFill/>
          <a:ln/>
        </p:spPr>
        <p:txBody>
          <a:bodyPr wrap="square"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5</a:t>
            </a:r>
            <a:endParaRPr lang="en-US" sz="1600" dirty="0"/>
          </a:p>
        </p:txBody>
      </p:sp>
      <p:sp>
        <p:nvSpPr>
          <p:cNvPr id="17" name="Text 15"/>
          <p:cNvSpPr/>
          <p:nvPr/>
        </p:nvSpPr>
        <p:spPr>
          <a:xfrm>
            <a:off x="1060704" y="2432304"/>
            <a:ext cx="7552944" cy="310896"/>
          </a:xfrm>
          <a:prstGeom prst="rect">
            <a:avLst/>
          </a:prstGeom>
          <a:noFill/>
          <a:ln/>
        </p:spPr>
        <p:txBody>
          <a:bodyPr wrap="square" rtlCol="0" anchor="ctr"/>
          <a:lstStyle/>
          <a:p>
            <a:pPr marL="0" indent="0">
              <a:buNone/>
            </a:pPr>
            <a:r>
              <a:rPr lang="en-US" sz="1300" b="1" dirty="0">
                <a:solidFill>
                  <a:srgbClr val="0891B2"/>
                </a:solidFill>
                <a:latin typeface="Arial Black" pitchFamily="34" charset="0"/>
                <a:ea typeface="Arial Black" pitchFamily="34" charset="-122"/>
                <a:cs typeface="Arial Black" pitchFamily="34" charset="-120"/>
              </a:rPr>
              <a:t>Single-File HTML App (No Installation) Prompt</a:t>
            </a:r>
            <a:endParaRPr lang="en-US" sz="1300" dirty="0"/>
          </a:p>
        </p:txBody>
      </p:sp>
      <p:sp>
        <p:nvSpPr>
          <p:cNvPr id="18" name="Text 16"/>
          <p:cNvSpPr/>
          <p:nvPr/>
        </p:nvSpPr>
        <p:spPr>
          <a:xfrm>
            <a:off x="1060704" y="2761488"/>
            <a:ext cx="7516368" cy="713232"/>
          </a:xfrm>
          <a:prstGeom prst="rect">
            <a:avLst/>
          </a:prstGeom>
          <a:noFill/>
          <a:ln/>
        </p:spPr>
        <p:txBody>
          <a:bodyPr wrap="square" rtlCol="0" anchor="ctr"/>
          <a:lstStyle/>
          <a:p>
            <a:pPr marL="0" indent="0">
              <a:buNone/>
            </a:pPr>
            <a:r>
              <a:rPr lang="en-US" sz="950" i="1" dirty="0">
                <a:solidFill>
                  <a:srgbClr val="475569"/>
                </a:solidFill>
                <a:latin typeface="Calibri" pitchFamily="34" charset="0"/>
                <a:ea typeface="Calibri" pitchFamily="34" charset="-122"/>
                <a:cs typeface="Calibri" pitchFamily="34" charset="-120"/>
              </a:rPr>
              <a:t>"Combine the entire ServNex app — all pages, routing, state management, 8 demo providers, full booking, real-time chat, payment simulation, reviews, admin dashboard — into a single index.html with no external dependencies, running purely in browser using localStorage."</a:t>
            </a:r>
            <a:endParaRPr lang="en-US" sz="950" dirty="0"/>
          </a:p>
        </p:txBody>
      </p:sp>
      <p:sp>
        <p:nvSpPr>
          <p:cNvPr id="19" name="Shape 17"/>
          <p:cNvSpPr/>
          <p:nvPr/>
        </p:nvSpPr>
        <p:spPr>
          <a:xfrm>
            <a:off x="320040" y="3694176"/>
            <a:ext cx="8503920" cy="1225296"/>
          </a:xfrm>
          <a:prstGeom prst="rect">
            <a:avLst/>
          </a:prstGeom>
          <a:solidFill>
            <a:srgbClr val="F0F4FF"/>
          </a:solidFill>
          <a:ln w="6350">
            <a:solidFill>
              <a:srgbClr val="CBD5E1"/>
            </a:solidFill>
            <a:prstDash val="solid"/>
          </a:ln>
          <a:effectLst>
            <a:outerShdw blurRad="101600" dist="25400" dir="8100000" algn="bl" rotWithShape="0">
              <a:srgbClr val="94A3B8">
                <a:alpha val="25000"/>
              </a:srgbClr>
            </a:outerShdw>
          </a:effectLst>
        </p:spPr>
      </p:sp>
      <p:sp>
        <p:nvSpPr>
          <p:cNvPr id="20" name="Shape 18"/>
          <p:cNvSpPr/>
          <p:nvPr/>
        </p:nvSpPr>
        <p:spPr>
          <a:xfrm>
            <a:off x="320040" y="3694176"/>
            <a:ext cx="8503920" cy="36576"/>
          </a:xfrm>
          <a:prstGeom prst="rect">
            <a:avLst/>
          </a:prstGeom>
          <a:solidFill>
            <a:srgbClr val="EA580C"/>
          </a:solidFill>
          <a:ln w="12700">
            <a:solidFill>
              <a:srgbClr val="EA580C"/>
            </a:solidFill>
            <a:prstDash val="solid"/>
          </a:ln>
        </p:spPr>
      </p:sp>
      <p:sp>
        <p:nvSpPr>
          <p:cNvPr id="21" name="Shape 19"/>
          <p:cNvSpPr/>
          <p:nvPr/>
        </p:nvSpPr>
        <p:spPr>
          <a:xfrm>
            <a:off x="420624" y="4050792"/>
            <a:ext cx="502920" cy="502920"/>
          </a:xfrm>
          <a:prstGeom prst="ellipse">
            <a:avLst/>
          </a:prstGeom>
          <a:solidFill>
            <a:srgbClr val="EA580C"/>
          </a:solidFill>
          <a:ln/>
        </p:spPr>
      </p:sp>
      <p:sp>
        <p:nvSpPr>
          <p:cNvPr id="22" name="Text 20"/>
          <p:cNvSpPr/>
          <p:nvPr/>
        </p:nvSpPr>
        <p:spPr>
          <a:xfrm>
            <a:off x="420624" y="4087368"/>
            <a:ext cx="502920" cy="429768"/>
          </a:xfrm>
          <a:prstGeom prst="rect">
            <a:avLst/>
          </a:prstGeom>
          <a:noFill/>
          <a:ln/>
        </p:spPr>
        <p:txBody>
          <a:bodyPr wrap="square"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6</a:t>
            </a:r>
            <a:endParaRPr lang="en-US" sz="1600" dirty="0"/>
          </a:p>
        </p:txBody>
      </p:sp>
      <p:sp>
        <p:nvSpPr>
          <p:cNvPr id="23" name="Text 21"/>
          <p:cNvSpPr/>
          <p:nvPr/>
        </p:nvSpPr>
        <p:spPr>
          <a:xfrm>
            <a:off x="1060704" y="3785616"/>
            <a:ext cx="7552944" cy="310896"/>
          </a:xfrm>
          <a:prstGeom prst="rect">
            <a:avLst/>
          </a:prstGeom>
          <a:noFill/>
          <a:ln/>
        </p:spPr>
        <p:txBody>
          <a:bodyPr wrap="square" rtlCol="0" anchor="ctr"/>
          <a:lstStyle/>
          <a:p>
            <a:pPr marL="0" indent="0">
              <a:buNone/>
            </a:pPr>
            <a:r>
              <a:rPr lang="en-US" sz="1300" b="1" dirty="0">
                <a:solidFill>
                  <a:srgbClr val="EA580C"/>
                </a:solidFill>
                <a:latin typeface="Arial Black" pitchFamily="34" charset="0"/>
                <a:ea typeface="Arial Black" pitchFamily="34" charset="-122"/>
                <a:cs typeface="Arial Black" pitchFamily="34" charset="-120"/>
              </a:rPr>
              <a:t>Bug Fix, Packaging &amp; GitHub Deployment Prompt</a:t>
            </a:r>
            <a:endParaRPr lang="en-US" sz="1300" dirty="0"/>
          </a:p>
        </p:txBody>
      </p:sp>
      <p:sp>
        <p:nvSpPr>
          <p:cNvPr id="24" name="Text 22"/>
          <p:cNvSpPr/>
          <p:nvPr/>
        </p:nvSpPr>
        <p:spPr>
          <a:xfrm>
            <a:off x="1060704" y="4114800"/>
            <a:ext cx="7516368" cy="713232"/>
          </a:xfrm>
          <a:prstGeom prst="rect">
            <a:avLst/>
          </a:prstGeom>
          <a:noFill/>
          <a:ln/>
        </p:spPr>
        <p:txBody>
          <a:bodyPr wrap="square" rtlCol="0" anchor="ctr"/>
          <a:lstStyle/>
          <a:p>
            <a:pPr marL="0" indent="0">
              <a:buNone/>
            </a:pPr>
            <a:r>
              <a:rPr lang="en-US" sz="950" i="1" dirty="0">
                <a:solidFill>
                  <a:srgbClr val="475569"/>
                </a:solidFill>
                <a:latin typeface="Calibri" pitchFamily="34" charset="0"/>
                <a:ea typeface="Calibri" pitchFamily="34" charset="-122"/>
                <a:cs typeface="Calibri" pitchFamily="34" charset="-120"/>
              </a:rPr>
              <a:t>"Fix zip packaging so contents are at root level (no nested folder). Add missing frontend/public/index.html. Pre-fill backend/.env and frontend/.env with defaults. Add WINDOWS_QUICKSTART.md with terminal commands. Enable GitHub Pages so the site opens at jakkulasrivaishnavi.github.io/servnex."</a:t>
            </a:r>
            <a:endParaRPr lang="en-US" sz="950" dirty="0"/>
          </a:p>
        </p:txBody>
      </p:sp>
      <p:sp>
        <p:nvSpPr>
          <p:cNvPr id="25" name="Shape 23"/>
          <p:cNvSpPr/>
          <p:nvPr/>
        </p:nvSpPr>
        <p:spPr>
          <a:xfrm>
            <a:off x="0" y="4956048"/>
            <a:ext cx="9144000" cy="187452"/>
          </a:xfrm>
          <a:prstGeom prst="rect">
            <a:avLst/>
          </a:prstGeom>
          <a:solidFill>
            <a:srgbClr val="E2E8F0"/>
          </a:solidFill>
          <a:ln w="12700">
            <a:solidFill>
              <a:srgbClr val="CBD5E1"/>
            </a:solidFill>
            <a:prstDash val="solid"/>
          </a:ln>
        </p:spPr>
      </p:sp>
      <p:sp>
        <p:nvSpPr>
          <p:cNvPr id="26" name="Text 24"/>
          <p:cNvSpPr/>
          <p:nvPr/>
        </p:nvSpPr>
        <p:spPr>
          <a:xfrm>
            <a:off x="320040" y="4983480"/>
            <a:ext cx="5486400" cy="13716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ServNex  —  Local Services Platform</a:t>
            </a:r>
            <a:endParaRPr lang="en-US" sz="800" dirty="0"/>
          </a:p>
        </p:txBody>
      </p:sp>
      <p:sp>
        <p:nvSpPr>
          <p:cNvPr id="27" name="Text 25"/>
          <p:cNvSpPr/>
          <p:nvPr/>
        </p:nvSpPr>
        <p:spPr>
          <a:xfrm>
            <a:off x="7772400" y="4983480"/>
            <a:ext cx="1051560" cy="137160"/>
          </a:xfrm>
          <a:prstGeom prst="rect">
            <a:avLst/>
          </a:prstGeom>
          <a:noFill/>
          <a:ln/>
        </p:spPr>
        <p:txBody>
          <a:bodyPr wrap="square"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7 / 11</a:t>
            </a:r>
            <a:endParaRPr lang="en-US" sz="800" dirty="0"/>
          </a:p>
        </p:txBody>
      </p:sp>
      <p:sp>
        <p:nvSpPr>
          <p:cNvPr id="28" name="Shape 26"/>
          <p:cNvSpPr/>
          <p:nvPr/>
        </p:nvSpPr>
        <p:spPr>
          <a:xfrm>
            <a:off x="0" y="4956048"/>
            <a:ext cx="5818909" cy="27432"/>
          </a:xfrm>
          <a:prstGeom prst="rect">
            <a:avLst/>
          </a:prstGeom>
          <a:solidFill>
            <a:srgbClr val="2563EB"/>
          </a:solidFill>
          <a:ln w="12700">
            <a:solidFill>
              <a:srgbClr val="2563EB"/>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320040" y="182880"/>
            <a:ext cx="54864" cy="566928"/>
          </a:xfrm>
          <a:prstGeom prst="rect">
            <a:avLst/>
          </a:prstGeom>
          <a:solidFill>
            <a:srgbClr val="059669"/>
          </a:solidFill>
          <a:ln w="12700">
            <a:solidFill>
              <a:srgbClr val="059669"/>
            </a:solidFill>
            <a:prstDash val="solid"/>
          </a:ln>
        </p:spPr>
      </p:sp>
      <p:sp>
        <p:nvSpPr>
          <p:cNvPr id="3" name="Shape 1"/>
          <p:cNvSpPr/>
          <p:nvPr/>
        </p:nvSpPr>
        <p:spPr>
          <a:xfrm>
            <a:off x="457200" y="182880"/>
            <a:ext cx="502920" cy="274320"/>
          </a:xfrm>
          <a:prstGeom prst="rect">
            <a:avLst/>
          </a:prstGeom>
          <a:solidFill>
            <a:srgbClr val="059669">
              <a:alpha val="20000"/>
            </a:srgbClr>
          </a:solidFill>
          <a:ln w="6350">
            <a:solidFill>
              <a:srgbClr val="059669"/>
            </a:solidFill>
            <a:prstDash val="solid"/>
          </a:ln>
        </p:spPr>
      </p:sp>
      <p:sp>
        <p:nvSpPr>
          <p:cNvPr id="4" name="Text 2"/>
          <p:cNvSpPr/>
          <p:nvPr/>
        </p:nvSpPr>
        <p:spPr>
          <a:xfrm>
            <a:off x="457200" y="182880"/>
            <a:ext cx="502920" cy="274320"/>
          </a:xfrm>
          <a:prstGeom prst="rect">
            <a:avLst/>
          </a:prstGeom>
          <a:noFill/>
          <a:ln/>
        </p:spPr>
        <p:txBody>
          <a:bodyPr wrap="square" rtlCol="0" anchor="ctr"/>
          <a:lstStyle/>
          <a:p>
            <a:pPr marL="0" indent="0" algn="ctr">
              <a:buNone/>
            </a:pPr>
            <a:r>
              <a:rPr lang="en-US" sz="900" b="1" dirty="0">
                <a:solidFill>
                  <a:srgbClr val="059669"/>
                </a:solidFill>
                <a:latin typeface="Arial Black" pitchFamily="34" charset="0"/>
                <a:ea typeface="Arial Black" pitchFamily="34" charset="-122"/>
                <a:cs typeface="Arial Black" pitchFamily="34" charset="-120"/>
              </a:rPr>
              <a:t>07</a:t>
            </a:r>
            <a:endParaRPr lang="en-US" sz="900" dirty="0"/>
          </a:p>
        </p:txBody>
      </p:sp>
      <p:sp>
        <p:nvSpPr>
          <p:cNvPr id="5" name="Text 3"/>
          <p:cNvSpPr/>
          <p:nvPr/>
        </p:nvSpPr>
        <p:spPr>
          <a:xfrm>
            <a:off x="1078992" y="164592"/>
            <a:ext cx="7772400" cy="438912"/>
          </a:xfrm>
          <a:prstGeom prst="rect">
            <a:avLst/>
          </a:prstGeom>
          <a:noFill/>
          <a:ln/>
        </p:spPr>
        <p:txBody>
          <a:bodyPr wrap="square" lIns="0" tIns="0" rIns="0" bIns="0" rtlCol="0" anchor="ctr"/>
          <a:lstStyle/>
          <a:p>
            <a:pPr marL="0" indent="0">
              <a:buNone/>
            </a:pPr>
            <a:r>
              <a:rPr lang="en-US" sz="2200" b="1" dirty="0">
                <a:solidFill>
                  <a:srgbClr val="1E3A5F"/>
                </a:solidFill>
                <a:latin typeface="Arial Black" pitchFamily="34" charset="0"/>
                <a:ea typeface="Arial Black" pitchFamily="34" charset="-122"/>
                <a:cs typeface="Arial Black" pitchFamily="34" charset="-120"/>
              </a:rPr>
              <a:t>System Workflow Flowchart</a:t>
            </a:r>
            <a:endParaRPr lang="en-US" sz="2200" dirty="0"/>
          </a:p>
        </p:txBody>
      </p:sp>
      <p:sp>
        <p:nvSpPr>
          <p:cNvPr id="6" name="Shape 4"/>
          <p:cNvSpPr/>
          <p:nvPr/>
        </p:nvSpPr>
        <p:spPr>
          <a:xfrm>
            <a:off x="320040" y="749808"/>
            <a:ext cx="8503920" cy="22860"/>
          </a:xfrm>
          <a:prstGeom prst="rect">
            <a:avLst/>
          </a:prstGeom>
          <a:solidFill>
            <a:srgbClr val="059669">
              <a:alpha val="50000"/>
            </a:srgbClr>
          </a:solidFill>
          <a:ln w="12700">
            <a:solidFill>
              <a:srgbClr val="059669"/>
            </a:solidFill>
            <a:prstDash val="solid"/>
          </a:ln>
        </p:spPr>
      </p:sp>
      <p:sp>
        <p:nvSpPr>
          <p:cNvPr id="7" name="Shape 5"/>
          <p:cNvSpPr/>
          <p:nvPr/>
        </p:nvSpPr>
        <p:spPr>
          <a:xfrm>
            <a:off x="274320" y="960120"/>
            <a:ext cx="4023360" cy="3767328"/>
          </a:xfrm>
          <a:prstGeom prst="rect">
            <a:avLst/>
          </a:prstGeom>
          <a:solidFill>
            <a:srgbClr val="EFF6FF"/>
          </a:solidFill>
          <a:ln w="6350">
            <a:solidFill>
              <a:srgbClr val="CBD5E1"/>
            </a:solidFill>
            <a:prstDash val="solid"/>
          </a:ln>
          <a:effectLst>
            <a:outerShdw blurRad="101600" dist="25400" dir="8100000" algn="bl" rotWithShape="0">
              <a:srgbClr val="94A3B8">
                <a:alpha val="25000"/>
              </a:srgbClr>
            </a:outerShdw>
          </a:effectLst>
        </p:spPr>
      </p:sp>
      <p:sp>
        <p:nvSpPr>
          <p:cNvPr id="8" name="Shape 6"/>
          <p:cNvSpPr/>
          <p:nvPr/>
        </p:nvSpPr>
        <p:spPr>
          <a:xfrm>
            <a:off x="274320" y="960120"/>
            <a:ext cx="4023360" cy="347472"/>
          </a:xfrm>
          <a:prstGeom prst="rect">
            <a:avLst/>
          </a:prstGeom>
          <a:solidFill>
            <a:srgbClr val="DBEAFE"/>
          </a:solidFill>
          <a:ln w="10160">
            <a:solidFill>
              <a:srgbClr val="2563EB"/>
            </a:solidFill>
            <a:prstDash val="solid"/>
          </a:ln>
        </p:spPr>
      </p:sp>
      <p:sp>
        <p:nvSpPr>
          <p:cNvPr id="9" name="Text 7"/>
          <p:cNvSpPr/>
          <p:nvPr/>
        </p:nvSpPr>
        <p:spPr>
          <a:xfrm>
            <a:off x="274320" y="1005840"/>
            <a:ext cx="4023360" cy="256032"/>
          </a:xfrm>
          <a:prstGeom prst="rect">
            <a:avLst/>
          </a:prstGeom>
          <a:noFill/>
          <a:ln/>
        </p:spPr>
        <p:txBody>
          <a:bodyPr wrap="square" rtlCol="0" anchor="ctr"/>
          <a:lstStyle/>
          <a:p>
            <a:pPr marL="0" indent="0" algn="ctr">
              <a:buNone/>
            </a:pPr>
            <a:r>
              <a:rPr lang="en-US" sz="1200" b="1" dirty="0">
                <a:solidFill>
                  <a:srgbClr val="2563EB"/>
                </a:solidFill>
                <a:latin typeface="Arial Black" pitchFamily="34" charset="0"/>
                <a:ea typeface="Arial Black" pitchFamily="34" charset="-122"/>
                <a:cs typeface="Arial Black" pitchFamily="34" charset="-120"/>
              </a:rPr>
              <a:t>USER FLOW</a:t>
            </a:r>
            <a:endParaRPr lang="en-US" sz="1200" dirty="0"/>
          </a:p>
        </p:txBody>
      </p:sp>
      <p:sp>
        <p:nvSpPr>
          <p:cNvPr id="10" name="Shape 8"/>
          <p:cNvSpPr/>
          <p:nvPr/>
        </p:nvSpPr>
        <p:spPr>
          <a:xfrm>
            <a:off x="438912" y="1435608"/>
            <a:ext cx="3694176" cy="301752"/>
          </a:xfrm>
          <a:prstGeom prst="rect">
            <a:avLst/>
          </a:prstGeom>
          <a:solidFill>
            <a:srgbClr val="FFFFFF"/>
          </a:solidFill>
          <a:ln w="6350">
            <a:solidFill>
              <a:srgbClr val="CBD5E1"/>
            </a:solidFill>
            <a:prstDash val="solid"/>
          </a:ln>
        </p:spPr>
      </p:sp>
      <p:sp>
        <p:nvSpPr>
          <p:cNvPr id="11" name="Text 9"/>
          <p:cNvSpPr/>
          <p:nvPr/>
        </p:nvSpPr>
        <p:spPr>
          <a:xfrm>
            <a:off x="502920" y="1472184"/>
            <a:ext cx="3566160" cy="2286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1. Register / Login</a:t>
            </a:r>
            <a:endParaRPr lang="en-US" sz="1050" dirty="0"/>
          </a:p>
        </p:txBody>
      </p:sp>
      <p:sp>
        <p:nvSpPr>
          <p:cNvPr id="12" name="Shape 10"/>
          <p:cNvSpPr/>
          <p:nvPr/>
        </p:nvSpPr>
        <p:spPr>
          <a:xfrm>
            <a:off x="2286000" y="1737360"/>
            <a:ext cx="0" cy="100584"/>
          </a:xfrm>
          <a:prstGeom prst="line">
            <a:avLst/>
          </a:prstGeom>
          <a:noFill/>
          <a:ln w="12700">
            <a:solidFill>
              <a:srgbClr val="2563EB"/>
            </a:solidFill>
            <a:prstDash val="solid"/>
          </a:ln>
        </p:spPr>
      </p:sp>
      <p:sp>
        <p:nvSpPr>
          <p:cNvPr id="13" name="Shape 11"/>
          <p:cNvSpPr/>
          <p:nvPr/>
        </p:nvSpPr>
        <p:spPr>
          <a:xfrm>
            <a:off x="438912" y="1837944"/>
            <a:ext cx="3694176" cy="301752"/>
          </a:xfrm>
          <a:prstGeom prst="rect">
            <a:avLst/>
          </a:prstGeom>
          <a:solidFill>
            <a:srgbClr val="FFFFFF"/>
          </a:solidFill>
          <a:ln w="6350">
            <a:solidFill>
              <a:srgbClr val="CBD5E1"/>
            </a:solidFill>
            <a:prstDash val="solid"/>
          </a:ln>
        </p:spPr>
      </p:sp>
      <p:sp>
        <p:nvSpPr>
          <p:cNvPr id="14" name="Text 12"/>
          <p:cNvSpPr/>
          <p:nvPr/>
        </p:nvSpPr>
        <p:spPr>
          <a:xfrm>
            <a:off x="502920" y="1874520"/>
            <a:ext cx="3566160" cy="2286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2. Search Services + Apply Filters</a:t>
            </a:r>
            <a:endParaRPr lang="en-US" sz="1050" dirty="0"/>
          </a:p>
        </p:txBody>
      </p:sp>
      <p:sp>
        <p:nvSpPr>
          <p:cNvPr id="15" name="Shape 13"/>
          <p:cNvSpPr/>
          <p:nvPr/>
        </p:nvSpPr>
        <p:spPr>
          <a:xfrm>
            <a:off x="2286000" y="2139696"/>
            <a:ext cx="0" cy="100584"/>
          </a:xfrm>
          <a:prstGeom prst="line">
            <a:avLst/>
          </a:prstGeom>
          <a:noFill/>
          <a:ln w="12700">
            <a:solidFill>
              <a:srgbClr val="2563EB"/>
            </a:solidFill>
            <a:prstDash val="solid"/>
          </a:ln>
        </p:spPr>
      </p:sp>
      <p:sp>
        <p:nvSpPr>
          <p:cNvPr id="16" name="Shape 14"/>
          <p:cNvSpPr/>
          <p:nvPr/>
        </p:nvSpPr>
        <p:spPr>
          <a:xfrm>
            <a:off x="438912" y="2240280"/>
            <a:ext cx="3694176" cy="301752"/>
          </a:xfrm>
          <a:prstGeom prst="rect">
            <a:avLst/>
          </a:prstGeom>
          <a:solidFill>
            <a:srgbClr val="FFFFFF"/>
          </a:solidFill>
          <a:ln w="6350">
            <a:solidFill>
              <a:srgbClr val="CBD5E1"/>
            </a:solidFill>
            <a:prstDash val="solid"/>
          </a:ln>
        </p:spPr>
      </p:sp>
      <p:sp>
        <p:nvSpPr>
          <p:cNvPr id="17" name="Text 15"/>
          <p:cNvSpPr/>
          <p:nvPr/>
        </p:nvSpPr>
        <p:spPr>
          <a:xfrm>
            <a:off x="502920" y="2276856"/>
            <a:ext cx="3566160" cy="2286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3. View Provider Profile &amp; Reviews</a:t>
            </a:r>
            <a:endParaRPr lang="en-US" sz="1050" dirty="0"/>
          </a:p>
        </p:txBody>
      </p:sp>
      <p:sp>
        <p:nvSpPr>
          <p:cNvPr id="18" name="Shape 16"/>
          <p:cNvSpPr/>
          <p:nvPr/>
        </p:nvSpPr>
        <p:spPr>
          <a:xfrm>
            <a:off x="2286000" y="2542032"/>
            <a:ext cx="0" cy="100584"/>
          </a:xfrm>
          <a:prstGeom prst="line">
            <a:avLst/>
          </a:prstGeom>
          <a:noFill/>
          <a:ln w="12700">
            <a:solidFill>
              <a:srgbClr val="2563EB"/>
            </a:solidFill>
            <a:prstDash val="solid"/>
          </a:ln>
        </p:spPr>
      </p:sp>
      <p:sp>
        <p:nvSpPr>
          <p:cNvPr id="19" name="Shape 17"/>
          <p:cNvSpPr/>
          <p:nvPr/>
        </p:nvSpPr>
        <p:spPr>
          <a:xfrm>
            <a:off x="438912" y="2642616"/>
            <a:ext cx="3694176" cy="301752"/>
          </a:xfrm>
          <a:prstGeom prst="rect">
            <a:avLst/>
          </a:prstGeom>
          <a:solidFill>
            <a:srgbClr val="DBEAFE"/>
          </a:solidFill>
          <a:ln w="12700">
            <a:solidFill>
              <a:srgbClr val="2563EB"/>
            </a:solidFill>
            <a:prstDash val="solid"/>
          </a:ln>
        </p:spPr>
      </p:sp>
      <p:sp>
        <p:nvSpPr>
          <p:cNvPr id="20" name="Text 18"/>
          <p:cNvSpPr/>
          <p:nvPr/>
        </p:nvSpPr>
        <p:spPr>
          <a:xfrm>
            <a:off x="502920" y="2679192"/>
            <a:ext cx="3566160" cy="228600"/>
          </a:xfrm>
          <a:prstGeom prst="rect">
            <a:avLst/>
          </a:prstGeom>
          <a:noFill/>
          <a:ln/>
        </p:spPr>
        <p:txBody>
          <a:bodyPr wrap="square" rtlCol="0" anchor="ctr"/>
          <a:lstStyle/>
          <a:p>
            <a:pPr marL="0" indent="0">
              <a:buNone/>
            </a:pPr>
            <a:r>
              <a:rPr lang="en-US" sz="1050" b="1" dirty="0">
                <a:solidFill>
                  <a:srgbClr val="2563EB"/>
                </a:solidFill>
                <a:latin typeface="Calibri" pitchFamily="34" charset="0"/>
                <a:ea typeface="Calibri" pitchFamily="34" charset="-122"/>
                <a:cs typeface="Calibri" pitchFamily="34" charset="-120"/>
              </a:rPr>
              <a:t>4. Send Booking Request</a:t>
            </a:r>
            <a:endParaRPr lang="en-US" sz="1050" dirty="0"/>
          </a:p>
        </p:txBody>
      </p:sp>
      <p:sp>
        <p:nvSpPr>
          <p:cNvPr id="21" name="Shape 19"/>
          <p:cNvSpPr/>
          <p:nvPr/>
        </p:nvSpPr>
        <p:spPr>
          <a:xfrm>
            <a:off x="2286000" y="2944368"/>
            <a:ext cx="0" cy="100584"/>
          </a:xfrm>
          <a:prstGeom prst="line">
            <a:avLst/>
          </a:prstGeom>
          <a:noFill/>
          <a:ln w="12700">
            <a:solidFill>
              <a:srgbClr val="2563EB"/>
            </a:solidFill>
            <a:prstDash val="solid"/>
          </a:ln>
        </p:spPr>
      </p:sp>
      <p:sp>
        <p:nvSpPr>
          <p:cNvPr id="22" name="Shape 20"/>
          <p:cNvSpPr/>
          <p:nvPr/>
        </p:nvSpPr>
        <p:spPr>
          <a:xfrm>
            <a:off x="438912" y="3044952"/>
            <a:ext cx="3694176" cy="301752"/>
          </a:xfrm>
          <a:prstGeom prst="rect">
            <a:avLst/>
          </a:prstGeom>
          <a:solidFill>
            <a:srgbClr val="FFFFFF"/>
          </a:solidFill>
          <a:ln w="6350">
            <a:solidFill>
              <a:srgbClr val="CBD5E1"/>
            </a:solidFill>
            <a:prstDash val="solid"/>
          </a:ln>
        </p:spPr>
      </p:sp>
      <p:sp>
        <p:nvSpPr>
          <p:cNvPr id="23" name="Text 21"/>
          <p:cNvSpPr/>
          <p:nvPr/>
        </p:nvSpPr>
        <p:spPr>
          <a:xfrm>
            <a:off x="502920" y="3081528"/>
            <a:ext cx="3566160" cy="2286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5. Chat with Provider</a:t>
            </a:r>
            <a:endParaRPr lang="en-US" sz="1050" dirty="0"/>
          </a:p>
        </p:txBody>
      </p:sp>
      <p:sp>
        <p:nvSpPr>
          <p:cNvPr id="24" name="Shape 22"/>
          <p:cNvSpPr/>
          <p:nvPr/>
        </p:nvSpPr>
        <p:spPr>
          <a:xfrm>
            <a:off x="2286000" y="3346704"/>
            <a:ext cx="0" cy="100584"/>
          </a:xfrm>
          <a:prstGeom prst="line">
            <a:avLst/>
          </a:prstGeom>
          <a:noFill/>
          <a:ln w="12700">
            <a:solidFill>
              <a:srgbClr val="2563EB"/>
            </a:solidFill>
            <a:prstDash val="solid"/>
          </a:ln>
        </p:spPr>
      </p:sp>
      <p:sp>
        <p:nvSpPr>
          <p:cNvPr id="25" name="Shape 23"/>
          <p:cNvSpPr/>
          <p:nvPr/>
        </p:nvSpPr>
        <p:spPr>
          <a:xfrm>
            <a:off x="438912" y="3447288"/>
            <a:ext cx="3694176" cy="301752"/>
          </a:xfrm>
          <a:prstGeom prst="rect">
            <a:avLst/>
          </a:prstGeom>
          <a:solidFill>
            <a:srgbClr val="FFFFFF"/>
          </a:solidFill>
          <a:ln w="6350">
            <a:solidFill>
              <a:srgbClr val="CBD5E1"/>
            </a:solidFill>
            <a:prstDash val="solid"/>
          </a:ln>
        </p:spPr>
      </p:sp>
      <p:sp>
        <p:nvSpPr>
          <p:cNvPr id="26" name="Text 24"/>
          <p:cNvSpPr/>
          <p:nvPr/>
        </p:nvSpPr>
        <p:spPr>
          <a:xfrm>
            <a:off x="502920" y="3483864"/>
            <a:ext cx="3566160" cy="2286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6. Receive Confirmation</a:t>
            </a:r>
            <a:endParaRPr lang="en-US" sz="1050" dirty="0"/>
          </a:p>
        </p:txBody>
      </p:sp>
      <p:sp>
        <p:nvSpPr>
          <p:cNvPr id="27" name="Shape 25"/>
          <p:cNvSpPr/>
          <p:nvPr/>
        </p:nvSpPr>
        <p:spPr>
          <a:xfrm>
            <a:off x="2286000" y="3749040"/>
            <a:ext cx="0" cy="100584"/>
          </a:xfrm>
          <a:prstGeom prst="line">
            <a:avLst/>
          </a:prstGeom>
          <a:noFill/>
          <a:ln w="12700">
            <a:solidFill>
              <a:srgbClr val="2563EB"/>
            </a:solidFill>
            <a:prstDash val="solid"/>
          </a:ln>
        </p:spPr>
      </p:sp>
      <p:sp>
        <p:nvSpPr>
          <p:cNvPr id="28" name="Shape 26"/>
          <p:cNvSpPr/>
          <p:nvPr/>
        </p:nvSpPr>
        <p:spPr>
          <a:xfrm>
            <a:off x="438912" y="3849624"/>
            <a:ext cx="3694176" cy="301752"/>
          </a:xfrm>
          <a:prstGeom prst="rect">
            <a:avLst/>
          </a:prstGeom>
          <a:solidFill>
            <a:srgbClr val="DBEAFE"/>
          </a:solidFill>
          <a:ln w="12700">
            <a:solidFill>
              <a:srgbClr val="2563EB"/>
            </a:solidFill>
            <a:prstDash val="solid"/>
          </a:ln>
        </p:spPr>
      </p:sp>
      <p:sp>
        <p:nvSpPr>
          <p:cNvPr id="29" name="Text 27"/>
          <p:cNvSpPr/>
          <p:nvPr/>
        </p:nvSpPr>
        <p:spPr>
          <a:xfrm>
            <a:off x="502920" y="3886200"/>
            <a:ext cx="3566160" cy="228600"/>
          </a:xfrm>
          <a:prstGeom prst="rect">
            <a:avLst/>
          </a:prstGeom>
          <a:noFill/>
          <a:ln/>
        </p:spPr>
        <p:txBody>
          <a:bodyPr wrap="square" rtlCol="0" anchor="ctr"/>
          <a:lstStyle/>
          <a:p>
            <a:pPr marL="0" indent="0">
              <a:buNone/>
            </a:pPr>
            <a:r>
              <a:rPr lang="en-US" sz="1050" b="1" dirty="0">
                <a:solidFill>
                  <a:srgbClr val="2563EB"/>
                </a:solidFill>
                <a:latin typeface="Calibri" pitchFamily="34" charset="0"/>
                <a:ea typeface="Calibri" pitchFamily="34" charset="-122"/>
                <a:cs typeface="Calibri" pitchFamily="34" charset="-120"/>
              </a:rPr>
              <a:t>7. Complete Payment via Razorpay</a:t>
            </a:r>
            <a:endParaRPr lang="en-US" sz="1050" dirty="0"/>
          </a:p>
        </p:txBody>
      </p:sp>
      <p:sp>
        <p:nvSpPr>
          <p:cNvPr id="30" name="Shape 28"/>
          <p:cNvSpPr/>
          <p:nvPr/>
        </p:nvSpPr>
        <p:spPr>
          <a:xfrm>
            <a:off x="2286000" y="4151376"/>
            <a:ext cx="0" cy="100584"/>
          </a:xfrm>
          <a:prstGeom prst="line">
            <a:avLst/>
          </a:prstGeom>
          <a:noFill/>
          <a:ln w="12700">
            <a:solidFill>
              <a:srgbClr val="2563EB"/>
            </a:solidFill>
            <a:prstDash val="solid"/>
          </a:ln>
        </p:spPr>
      </p:sp>
      <p:sp>
        <p:nvSpPr>
          <p:cNvPr id="31" name="Shape 29"/>
          <p:cNvSpPr/>
          <p:nvPr/>
        </p:nvSpPr>
        <p:spPr>
          <a:xfrm>
            <a:off x="438912" y="4251960"/>
            <a:ext cx="3694176" cy="301752"/>
          </a:xfrm>
          <a:prstGeom prst="rect">
            <a:avLst/>
          </a:prstGeom>
          <a:solidFill>
            <a:srgbClr val="FFFFFF"/>
          </a:solidFill>
          <a:ln w="6350">
            <a:solidFill>
              <a:srgbClr val="CBD5E1"/>
            </a:solidFill>
            <a:prstDash val="solid"/>
          </a:ln>
        </p:spPr>
      </p:sp>
      <p:sp>
        <p:nvSpPr>
          <p:cNvPr id="32" name="Text 30"/>
          <p:cNvSpPr/>
          <p:nvPr/>
        </p:nvSpPr>
        <p:spPr>
          <a:xfrm>
            <a:off x="502920" y="4288536"/>
            <a:ext cx="3566160" cy="2286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8. Leave Star Rating &amp; Review</a:t>
            </a:r>
            <a:endParaRPr lang="en-US" sz="1050" dirty="0"/>
          </a:p>
        </p:txBody>
      </p:sp>
      <p:sp>
        <p:nvSpPr>
          <p:cNvPr id="33" name="Shape 31"/>
          <p:cNvSpPr/>
          <p:nvPr/>
        </p:nvSpPr>
        <p:spPr>
          <a:xfrm>
            <a:off x="4572000" y="960120"/>
            <a:ext cx="4279392" cy="3767328"/>
          </a:xfrm>
          <a:prstGeom prst="rect">
            <a:avLst/>
          </a:prstGeom>
          <a:solidFill>
            <a:srgbClr val="F0FDF4"/>
          </a:solidFill>
          <a:ln w="6350">
            <a:solidFill>
              <a:srgbClr val="CBD5E1"/>
            </a:solidFill>
            <a:prstDash val="solid"/>
          </a:ln>
          <a:effectLst>
            <a:outerShdw blurRad="101600" dist="25400" dir="8100000" algn="bl" rotWithShape="0">
              <a:srgbClr val="94A3B8">
                <a:alpha val="25000"/>
              </a:srgbClr>
            </a:outerShdw>
          </a:effectLst>
        </p:spPr>
      </p:sp>
      <p:sp>
        <p:nvSpPr>
          <p:cNvPr id="34" name="Shape 32"/>
          <p:cNvSpPr/>
          <p:nvPr/>
        </p:nvSpPr>
        <p:spPr>
          <a:xfrm>
            <a:off x="4572000" y="960120"/>
            <a:ext cx="4279392" cy="347472"/>
          </a:xfrm>
          <a:prstGeom prst="rect">
            <a:avLst/>
          </a:prstGeom>
          <a:solidFill>
            <a:srgbClr val="DCFCE7"/>
          </a:solidFill>
          <a:ln w="10160">
            <a:solidFill>
              <a:srgbClr val="059669"/>
            </a:solidFill>
            <a:prstDash val="solid"/>
          </a:ln>
        </p:spPr>
      </p:sp>
      <p:sp>
        <p:nvSpPr>
          <p:cNvPr id="35" name="Text 33"/>
          <p:cNvSpPr/>
          <p:nvPr/>
        </p:nvSpPr>
        <p:spPr>
          <a:xfrm>
            <a:off x="4572000" y="1005840"/>
            <a:ext cx="4279392" cy="256032"/>
          </a:xfrm>
          <a:prstGeom prst="rect">
            <a:avLst/>
          </a:prstGeom>
          <a:noFill/>
          <a:ln/>
        </p:spPr>
        <p:txBody>
          <a:bodyPr wrap="square" rtlCol="0" anchor="ctr"/>
          <a:lstStyle/>
          <a:p>
            <a:pPr marL="0" indent="0" algn="ctr">
              <a:buNone/>
            </a:pPr>
            <a:r>
              <a:rPr lang="en-US" sz="1200" b="1" dirty="0">
                <a:solidFill>
                  <a:srgbClr val="059669"/>
                </a:solidFill>
                <a:latin typeface="Arial Black" pitchFamily="34" charset="0"/>
                <a:ea typeface="Arial Black" pitchFamily="34" charset="-122"/>
                <a:cs typeface="Arial Black" pitchFamily="34" charset="-120"/>
              </a:rPr>
              <a:t>PROVIDER FLOW</a:t>
            </a:r>
            <a:endParaRPr lang="en-US" sz="1200" dirty="0"/>
          </a:p>
        </p:txBody>
      </p:sp>
      <p:sp>
        <p:nvSpPr>
          <p:cNvPr id="36" name="Shape 34"/>
          <p:cNvSpPr/>
          <p:nvPr/>
        </p:nvSpPr>
        <p:spPr>
          <a:xfrm>
            <a:off x="4736592" y="1435608"/>
            <a:ext cx="3931920" cy="301752"/>
          </a:xfrm>
          <a:prstGeom prst="rect">
            <a:avLst/>
          </a:prstGeom>
          <a:solidFill>
            <a:srgbClr val="FFFFFF"/>
          </a:solidFill>
          <a:ln w="6350">
            <a:solidFill>
              <a:srgbClr val="CBD5E1"/>
            </a:solidFill>
            <a:prstDash val="solid"/>
          </a:ln>
        </p:spPr>
      </p:sp>
      <p:sp>
        <p:nvSpPr>
          <p:cNvPr id="37" name="Text 35"/>
          <p:cNvSpPr/>
          <p:nvPr/>
        </p:nvSpPr>
        <p:spPr>
          <a:xfrm>
            <a:off x="4791456" y="1472184"/>
            <a:ext cx="3822192" cy="2286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1. Register + Add Skills &amp; Location</a:t>
            </a:r>
            <a:endParaRPr lang="en-US" sz="1050" dirty="0"/>
          </a:p>
        </p:txBody>
      </p:sp>
      <p:sp>
        <p:nvSpPr>
          <p:cNvPr id="38" name="Shape 36"/>
          <p:cNvSpPr/>
          <p:nvPr/>
        </p:nvSpPr>
        <p:spPr>
          <a:xfrm>
            <a:off x="6711696" y="1737360"/>
            <a:ext cx="0" cy="100584"/>
          </a:xfrm>
          <a:prstGeom prst="line">
            <a:avLst/>
          </a:prstGeom>
          <a:noFill/>
          <a:ln w="12700">
            <a:solidFill>
              <a:srgbClr val="059669"/>
            </a:solidFill>
            <a:prstDash val="solid"/>
          </a:ln>
        </p:spPr>
      </p:sp>
      <p:sp>
        <p:nvSpPr>
          <p:cNvPr id="39" name="Shape 37"/>
          <p:cNvSpPr/>
          <p:nvPr/>
        </p:nvSpPr>
        <p:spPr>
          <a:xfrm>
            <a:off x="4736592" y="1837944"/>
            <a:ext cx="3931920" cy="301752"/>
          </a:xfrm>
          <a:prstGeom prst="rect">
            <a:avLst/>
          </a:prstGeom>
          <a:solidFill>
            <a:srgbClr val="FFFFFF"/>
          </a:solidFill>
          <a:ln w="6350">
            <a:solidFill>
              <a:srgbClr val="CBD5E1"/>
            </a:solidFill>
            <a:prstDash val="solid"/>
          </a:ln>
        </p:spPr>
      </p:sp>
      <p:sp>
        <p:nvSpPr>
          <p:cNvPr id="40" name="Text 38"/>
          <p:cNvSpPr/>
          <p:nvPr/>
        </p:nvSpPr>
        <p:spPr>
          <a:xfrm>
            <a:off x="4791456" y="1874520"/>
            <a:ext cx="3822192" cy="2286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2. Submit Profile for Admin Review</a:t>
            </a:r>
            <a:endParaRPr lang="en-US" sz="1050" dirty="0"/>
          </a:p>
        </p:txBody>
      </p:sp>
      <p:sp>
        <p:nvSpPr>
          <p:cNvPr id="41" name="Shape 39"/>
          <p:cNvSpPr/>
          <p:nvPr/>
        </p:nvSpPr>
        <p:spPr>
          <a:xfrm>
            <a:off x="6711696" y="2139696"/>
            <a:ext cx="0" cy="100584"/>
          </a:xfrm>
          <a:prstGeom prst="line">
            <a:avLst/>
          </a:prstGeom>
          <a:noFill/>
          <a:ln w="12700">
            <a:solidFill>
              <a:srgbClr val="059669"/>
            </a:solidFill>
            <a:prstDash val="solid"/>
          </a:ln>
        </p:spPr>
      </p:sp>
      <p:sp>
        <p:nvSpPr>
          <p:cNvPr id="42" name="Shape 40"/>
          <p:cNvSpPr/>
          <p:nvPr/>
        </p:nvSpPr>
        <p:spPr>
          <a:xfrm>
            <a:off x="4736592" y="2240280"/>
            <a:ext cx="3931920" cy="301752"/>
          </a:xfrm>
          <a:prstGeom prst="rect">
            <a:avLst/>
          </a:prstGeom>
          <a:solidFill>
            <a:srgbClr val="FFFFFF"/>
          </a:solidFill>
          <a:ln w="6350">
            <a:solidFill>
              <a:srgbClr val="CBD5E1"/>
            </a:solidFill>
            <a:prstDash val="solid"/>
          </a:ln>
        </p:spPr>
      </p:sp>
      <p:sp>
        <p:nvSpPr>
          <p:cNvPr id="43" name="Text 41"/>
          <p:cNvSpPr/>
          <p:nvPr/>
        </p:nvSpPr>
        <p:spPr>
          <a:xfrm>
            <a:off x="4791456" y="2276856"/>
            <a:ext cx="3822192" cy="2286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3. Admin Approves — Goes Live in Search</a:t>
            </a:r>
            <a:endParaRPr lang="en-US" sz="1050" dirty="0"/>
          </a:p>
        </p:txBody>
      </p:sp>
      <p:sp>
        <p:nvSpPr>
          <p:cNvPr id="44" name="Shape 42"/>
          <p:cNvSpPr/>
          <p:nvPr/>
        </p:nvSpPr>
        <p:spPr>
          <a:xfrm>
            <a:off x="6711696" y="2542032"/>
            <a:ext cx="0" cy="100584"/>
          </a:xfrm>
          <a:prstGeom prst="line">
            <a:avLst/>
          </a:prstGeom>
          <a:noFill/>
          <a:ln w="12700">
            <a:solidFill>
              <a:srgbClr val="059669"/>
            </a:solidFill>
            <a:prstDash val="solid"/>
          </a:ln>
        </p:spPr>
      </p:sp>
      <p:sp>
        <p:nvSpPr>
          <p:cNvPr id="45" name="Shape 43"/>
          <p:cNvSpPr/>
          <p:nvPr/>
        </p:nvSpPr>
        <p:spPr>
          <a:xfrm>
            <a:off x="4736592" y="2642616"/>
            <a:ext cx="3931920" cy="301752"/>
          </a:xfrm>
          <a:prstGeom prst="rect">
            <a:avLst/>
          </a:prstGeom>
          <a:solidFill>
            <a:srgbClr val="DCFCE7"/>
          </a:solidFill>
          <a:ln w="12700">
            <a:solidFill>
              <a:srgbClr val="059669"/>
            </a:solidFill>
            <a:prstDash val="solid"/>
          </a:ln>
        </p:spPr>
      </p:sp>
      <p:sp>
        <p:nvSpPr>
          <p:cNvPr id="46" name="Text 44"/>
          <p:cNvSpPr/>
          <p:nvPr/>
        </p:nvSpPr>
        <p:spPr>
          <a:xfrm>
            <a:off x="4791456" y="2679192"/>
            <a:ext cx="3822192" cy="228600"/>
          </a:xfrm>
          <a:prstGeom prst="rect">
            <a:avLst/>
          </a:prstGeom>
          <a:noFill/>
          <a:ln/>
        </p:spPr>
        <p:txBody>
          <a:bodyPr wrap="square" rtlCol="0" anchor="ctr"/>
          <a:lstStyle/>
          <a:p>
            <a:pPr marL="0" indent="0">
              <a:buNone/>
            </a:pPr>
            <a:r>
              <a:rPr lang="en-US" sz="1050" b="1" dirty="0">
                <a:solidFill>
                  <a:srgbClr val="059669"/>
                </a:solidFill>
                <a:latin typeface="Calibri" pitchFamily="34" charset="0"/>
                <a:ea typeface="Calibri" pitchFamily="34" charset="-122"/>
                <a:cs typeface="Calibri" pitchFamily="34" charset="-120"/>
              </a:rPr>
              <a:t>4. Receive Booking Notification</a:t>
            </a:r>
            <a:endParaRPr lang="en-US" sz="1050" dirty="0"/>
          </a:p>
        </p:txBody>
      </p:sp>
      <p:sp>
        <p:nvSpPr>
          <p:cNvPr id="47" name="Shape 45"/>
          <p:cNvSpPr/>
          <p:nvPr/>
        </p:nvSpPr>
        <p:spPr>
          <a:xfrm>
            <a:off x="6711696" y="2944368"/>
            <a:ext cx="0" cy="100584"/>
          </a:xfrm>
          <a:prstGeom prst="line">
            <a:avLst/>
          </a:prstGeom>
          <a:noFill/>
          <a:ln w="12700">
            <a:solidFill>
              <a:srgbClr val="059669"/>
            </a:solidFill>
            <a:prstDash val="solid"/>
          </a:ln>
        </p:spPr>
      </p:sp>
      <p:sp>
        <p:nvSpPr>
          <p:cNvPr id="48" name="Shape 46"/>
          <p:cNvSpPr/>
          <p:nvPr/>
        </p:nvSpPr>
        <p:spPr>
          <a:xfrm>
            <a:off x="4736592" y="3044952"/>
            <a:ext cx="3931920" cy="301752"/>
          </a:xfrm>
          <a:prstGeom prst="rect">
            <a:avLst/>
          </a:prstGeom>
          <a:solidFill>
            <a:srgbClr val="FFFFFF"/>
          </a:solidFill>
          <a:ln w="6350">
            <a:solidFill>
              <a:srgbClr val="CBD5E1"/>
            </a:solidFill>
            <a:prstDash val="solid"/>
          </a:ln>
        </p:spPr>
      </p:sp>
      <p:sp>
        <p:nvSpPr>
          <p:cNvPr id="49" name="Text 47"/>
          <p:cNvSpPr/>
          <p:nvPr/>
        </p:nvSpPr>
        <p:spPr>
          <a:xfrm>
            <a:off x="4791456" y="3081528"/>
            <a:ext cx="3822192" cy="2286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5. Accept or Reject Request</a:t>
            </a:r>
            <a:endParaRPr lang="en-US" sz="1050" dirty="0"/>
          </a:p>
        </p:txBody>
      </p:sp>
      <p:sp>
        <p:nvSpPr>
          <p:cNvPr id="50" name="Shape 48"/>
          <p:cNvSpPr/>
          <p:nvPr/>
        </p:nvSpPr>
        <p:spPr>
          <a:xfrm>
            <a:off x="6711696" y="3346704"/>
            <a:ext cx="0" cy="100584"/>
          </a:xfrm>
          <a:prstGeom prst="line">
            <a:avLst/>
          </a:prstGeom>
          <a:noFill/>
          <a:ln w="12700">
            <a:solidFill>
              <a:srgbClr val="059669"/>
            </a:solidFill>
            <a:prstDash val="solid"/>
          </a:ln>
        </p:spPr>
      </p:sp>
      <p:sp>
        <p:nvSpPr>
          <p:cNvPr id="51" name="Shape 49"/>
          <p:cNvSpPr/>
          <p:nvPr/>
        </p:nvSpPr>
        <p:spPr>
          <a:xfrm>
            <a:off x="4736592" y="3447288"/>
            <a:ext cx="3931920" cy="301752"/>
          </a:xfrm>
          <a:prstGeom prst="rect">
            <a:avLst/>
          </a:prstGeom>
          <a:solidFill>
            <a:srgbClr val="DCFCE7"/>
          </a:solidFill>
          <a:ln w="12700">
            <a:solidFill>
              <a:srgbClr val="059669"/>
            </a:solidFill>
            <a:prstDash val="solid"/>
          </a:ln>
        </p:spPr>
      </p:sp>
      <p:sp>
        <p:nvSpPr>
          <p:cNvPr id="52" name="Text 50"/>
          <p:cNvSpPr/>
          <p:nvPr/>
        </p:nvSpPr>
        <p:spPr>
          <a:xfrm>
            <a:off x="4791456" y="3483864"/>
            <a:ext cx="3822192" cy="228600"/>
          </a:xfrm>
          <a:prstGeom prst="rect">
            <a:avLst/>
          </a:prstGeom>
          <a:noFill/>
          <a:ln/>
        </p:spPr>
        <p:txBody>
          <a:bodyPr wrap="square" rtlCol="0" anchor="ctr"/>
          <a:lstStyle/>
          <a:p>
            <a:pPr marL="0" indent="0">
              <a:buNone/>
            </a:pPr>
            <a:r>
              <a:rPr lang="en-US" sz="1050" b="1" dirty="0">
                <a:solidFill>
                  <a:srgbClr val="059669"/>
                </a:solidFill>
                <a:latin typeface="Calibri" pitchFamily="34" charset="0"/>
                <a:ea typeface="Calibri" pitchFamily="34" charset="-122"/>
                <a:cs typeface="Calibri" pitchFamily="34" charset="-120"/>
              </a:rPr>
              <a:t>6. Start Job → Update Status</a:t>
            </a:r>
            <a:endParaRPr lang="en-US" sz="1050" dirty="0"/>
          </a:p>
        </p:txBody>
      </p:sp>
      <p:sp>
        <p:nvSpPr>
          <p:cNvPr id="53" name="Shape 51"/>
          <p:cNvSpPr/>
          <p:nvPr/>
        </p:nvSpPr>
        <p:spPr>
          <a:xfrm>
            <a:off x="6711696" y="3749040"/>
            <a:ext cx="0" cy="100584"/>
          </a:xfrm>
          <a:prstGeom prst="line">
            <a:avLst/>
          </a:prstGeom>
          <a:noFill/>
          <a:ln w="12700">
            <a:solidFill>
              <a:srgbClr val="059669"/>
            </a:solidFill>
            <a:prstDash val="solid"/>
          </a:ln>
        </p:spPr>
      </p:sp>
      <p:sp>
        <p:nvSpPr>
          <p:cNvPr id="54" name="Shape 52"/>
          <p:cNvSpPr/>
          <p:nvPr/>
        </p:nvSpPr>
        <p:spPr>
          <a:xfrm>
            <a:off x="4736592" y="3849624"/>
            <a:ext cx="3931920" cy="301752"/>
          </a:xfrm>
          <a:prstGeom prst="rect">
            <a:avLst/>
          </a:prstGeom>
          <a:solidFill>
            <a:srgbClr val="FFFFFF"/>
          </a:solidFill>
          <a:ln w="6350">
            <a:solidFill>
              <a:srgbClr val="CBD5E1"/>
            </a:solidFill>
            <a:prstDash val="solid"/>
          </a:ln>
        </p:spPr>
      </p:sp>
      <p:sp>
        <p:nvSpPr>
          <p:cNvPr id="55" name="Text 53"/>
          <p:cNvSpPr/>
          <p:nvPr/>
        </p:nvSpPr>
        <p:spPr>
          <a:xfrm>
            <a:off x="4791456" y="3886200"/>
            <a:ext cx="3822192" cy="2286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7. Mark Complete &amp; Set Final Price</a:t>
            </a:r>
            <a:endParaRPr lang="en-US" sz="1050" dirty="0"/>
          </a:p>
        </p:txBody>
      </p:sp>
      <p:sp>
        <p:nvSpPr>
          <p:cNvPr id="56" name="Shape 54"/>
          <p:cNvSpPr/>
          <p:nvPr/>
        </p:nvSpPr>
        <p:spPr>
          <a:xfrm>
            <a:off x="6711696" y="4151376"/>
            <a:ext cx="0" cy="100584"/>
          </a:xfrm>
          <a:prstGeom prst="line">
            <a:avLst/>
          </a:prstGeom>
          <a:noFill/>
          <a:ln w="12700">
            <a:solidFill>
              <a:srgbClr val="059669"/>
            </a:solidFill>
            <a:prstDash val="solid"/>
          </a:ln>
        </p:spPr>
      </p:sp>
      <p:sp>
        <p:nvSpPr>
          <p:cNvPr id="57" name="Shape 55"/>
          <p:cNvSpPr/>
          <p:nvPr/>
        </p:nvSpPr>
        <p:spPr>
          <a:xfrm>
            <a:off x="4736592" y="4251960"/>
            <a:ext cx="3931920" cy="301752"/>
          </a:xfrm>
          <a:prstGeom prst="rect">
            <a:avLst/>
          </a:prstGeom>
          <a:solidFill>
            <a:srgbClr val="FFFFFF"/>
          </a:solidFill>
          <a:ln w="6350">
            <a:solidFill>
              <a:srgbClr val="CBD5E1"/>
            </a:solidFill>
            <a:prstDash val="solid"/>
          </a:ln>
        </p:spPr>
      </p:sp>
      <p:sp>
        <p:nvSpPr>
          <p:cNvPr id="58" name="Text 56"/>
          <p:cNvSpPr/>
          <p:nvPr/>
        </p:nvSpPr>
        <p:spPr>
          <a:xfrm>
            <a:off x="4791456" y="4288536"/>
            <a:ext cx="3822192" cy="2286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8. Reply to Customer Reviews</a:t>
            </a:r>
            <a:endParaRPr lang="en-US" sz="1050" dirty="0"/>
          </a:p>
        </p:txBody>
      </p:sp>
      <p:sp>
        <p:nvSpPr>
          <p:cNvPr id="59" name="Shape 57"/>
          <p:cNvSpPr/>
          <p:nvPr/>
        </p:nvSpPr>
        <p:spPr>
          <a:xfrm>
            <a:off x="0" y="4956048"/>
            <a:ext cx="9144000" cy="187452"/>
          </a:xfrm>
          <a:prstGeom prst="rect">
            <a:avLst/>
          </a:prstGeom>
          <a:solidFill>
            <a:srgbClr val="E2E8F0"/>
          </a:solidFill>
          <a:ln w="12700">
            <a:solidFill>
              <a:srgbClr val="CBD5E1"/>
            </a:solidFill>
            <a:prstDash val="solid"/>
          </a:ln>
        </p:spPr>
      </p:sp>
      <p:sp>
        <p:nvSpPr>
          <p:cNvPr id="60" name="Text 58"/>
          <p:cNvSpPr/>
          <p:nvPr/>
        </p:nvSpPr>
        <p:spPr>
          <a:xfrm>
            <a:off x="320040" y="4983480"/>
            <a:ext cx="5486400" cy="13716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ServNex  —  Local Services Platform</a:t>
            </a:r>
            <a:endParaRPr lang="en-US" sz="800" dirty="0"/>
          </a:p>
        </p:txBody>
      </p:sp>
      <p:sp>
        <p:nvSpPr>
          <p:cNvPr id="61" name="Text 59"/>
          <p:cNvSpPr/>
          <p:nvPr/>
        </p:nvSpPr>
        <p:spPr>
          <a:xfrm>
            <a:off x="7772400" y="4983480"/>
            <a:ext cx="1051560" cy="137160"/>
          </a:xfrm>
          <a:prstGeom prst="rect">
            <a:avLst/>
          </a:prstGeom>
          <a:noFill/>
          <a:ln/>
        </p:spPr>
        <p:txBody>
          <a:bodyPr wrap="square"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8 / 11</a:t>
            </a:r>
            <a:endParaRPr lang="en-US" sz="800" dirty="0"/>
          </a:p>
        </p:txBody>
      </p:sp>
      <p:sp>
        <p:nvSpPr>
          <p:cNvPr id="62" name="Shape 60"/>
          <p:cNvSpPr/>
          <p:nvPr/>
        </p:nvSpPr>
        <p:spPr>
          <a:xfrm>
            <a:off x="0" y="4956048"/>
            <a:ext cx="6650182" cy="27432"/>
          </a:xfrm>
          <a:prstGeom prst="rect">
            <a:avLst/>
          </a:prstGeom>
          <a:solidFill>
            <a:srgbClr val="2563EB"/>
          </a:solidFill>
          <a:ln w="12700">
            <a:solidFill>
              <a:srgbClr val="2563EB"/>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320040" y="182880"/>
            <a:ext cx="54864" cy="566928"/>
          </a:xfrm>
          <a:prstGeom prst="rect">
            <a:avLst/>
          </a:prstGeom>
          <a:solidFill>
            <a:srgbClr val="7C3AED"/>
          </a:solidFill>
          <a:ln w="12700">
            <a:solidFill>
              <a:srgbClr val="7C3AED"/>
            </a:solidFill>
            <a:prstDash val="solid"/>
          </a:ln>
        </p:spPr>
      </p:sp>
      <p:sp>
        <p:nvSpPr>
          <p:cNvPr id="3" name="Shape 1"/>
          <p:cNvSpPr/>
          <p:nvPr/>
        </p:nvSpPr>
        <p:spPr>
          <a:xfrm>
            <a:off x="457200" y="182880"/>
            <a:ext cx="502920" cy="274320"/>
          </a:xfrm>
          <a:prstGeom prst="rect">
            <a:avLst/>
          </a:prstGeom>
          <a:solidFill>
            <a:srgbClr val="7C3AED">
              <a:alpha val="20000"/>
            </a:srgbClr>
          </a:solidFill>
          <a:ln w="6350">
            <a:solidFill>
              <a:srgbClr val="7C3AED"/>
            </a:solidFill>
            <a:prstDash val="solid"/>
          </a:ln>
        </p:spPr>
      </p:sp>
      <p:sp>
        <p:nvSpPr>
          <p:cNvPr id="4" name="Text 2"/>
          <p:cNvSpPr/>
          <p:nvPr/>
        </p:nvSpPr>
        <p:spPr>
          <a:xfrm>
            <a:off x="457200" y="182880"/>
            <a:ext cx="502920" cy="274320"/>
          </a:xfrm>
          <a:prstGeom prst="rect">
            <a:avLst/>
          </a:prstGeom>
          <a:noFill/>
          <a:ln/>
        </p:spPr>
        <p:txBody>
          <a:bodyPr wrap="square" rtlCol="0" anchor="ctr"/>
          <a:lstStyle/>
          <a:p>
            <a:pPr marL="0" indent="0" algn="ctr">
              <a:buNone/>
            </a:pPr>
            <a:r>
              <a:rPr lang="en-US" sz="900" b="1" dirty="0">
                <a:solidFill>
                  <a:srgbClr val="7C3AED"/>
                </a:solidFill>
                <a:latin typeface="Arial Black" pitchFamily="34" charset="0"/>
                <a:ea typeface="Arial Black" pitchFamily="34" charset="-122"/>
                <a:cs typeface="Arial Black" pitchFamily="34" charset="-120"/>
              </a:rPr>
              <a:t>08</a:t>
            </a:r>
            <a:endParaRPr lang="en-US" sz="900" dirty="0"/>
          </a:p>
        </p:txBody>
      </p:sp>
      <p:sp>
        <p:nvSpPr>
          <p:cNvPr id="5" name="Text 3"/>
          <p:cNvSpPr/>
          <p:nvPr/>
        </p:nvSpPr>
        <p:spPr>
          <a:xfrm>
            <a:off x="1078992" y="164592"/>
            <a:ext cx="7772400" cy="438912"/>
          </a:xfrm>
          <a:prstGeom prst="rect">
            <a:avLst/>
          </a:prstGeom>
          <a:noFill/>
          <a:ln/>
        </p:spPr>
        <p:txBody>
          <a:bodyPr wrap="square" lIns="0" tIns="0" rIns="0" bIns="0" rtlCol="0" anchor="ctr"/>
          <a:lstStyle/>
          <a:p>
            <a:pPr marL="0" indent="0">
              <a:buNone/>
            </a:pPr>
            <a:r>
              <a:rPr lang="en-US" sz="2200" b="1" dirty="0">
                <a:solidFill>
                  <a:srgbClr val="1E3A5F"/>
                </a:solidFill>
                <a:latin typeface="Arial Black" pitchFamily="34" charset="0"/>
                <a:ea typeface="Arial Black" pitchFamily="34" charset="-122"/>
                <a:cs typeface="Arial Black" pitchFamily="34" charset="-120"/>
              </a:rPr>
              <a:t>Frontend Views  —  Actual Application Screenshots</a:t>
            </a:r>
            <a:endParaRPr lang="en-US" sz="2200" dirty="0"/>
          </a:p>
        </p:txBody>
      </p:sp>
      <p:sp>
        <p:nvSpPr>
          <p:cNvPr id="6" name="Shape 4"/>
          <p:cNvSpPr/>
          <p:nvPr/>
        </p:nvSpPr>
        <p:spPr>
          <a:xfrm>
            <a:off x="320040" y="749808"/>
            <a:ext cx="8503920" cy="22860"/>
          </a:xfrm>
          <a:prstGeom prst="rect">
            <a:avLst/>
          </a:prstGeom>
          <a:solidFill>
            <a:srgbClr val="7C3AED">
              <a:alpha val="50000"/>
            </a:srgbClr>
          </a:solidFill>
          <a:ln w="12700">
            <a:solidFill>
              <a:srgbClr val="7C3AED"/>
            </a:solidFill>
            <a:prstDash val="solid"/>
          </a:ln>
        </p:spPr>
      </p:sp>
      <p:sp>
        <p:nvSpPr>
          <p:cNvPr id="7" name="Shape 5"/>
          <p:cNvSpPr/>
          <p:nvPr/>
        </p:nvSpPr>
        <p:spPr>
          <a:xfrm>
            <a:off x="320040" y="960120"/>
            <a:ext cx="4160520" cy="1755648"/>
          </a:xfrm>
          <a:prstGeom prst="rect">
            <a:avLst/>
          </a:prstGeom>
          <a:solidFill>
            <a:srgbClr val="FFFFFF"/>
          </a:solidFill>
          <a:ln w="6350">
            <a:solidFill>
              <a:srgbClr val="CBD5E1"/>
            </a:solidFill>
            <a:prstDash val="solid"/>
          </a:ln>
          <a:effectLst>
            <a:outerShdw blurRad="101600" dist="25400" dir="8100000" algn="bl" rotWithShape="0">
              <a:srgbClr val="94A3B8">
                <a:alpha val="25000"/>
              </a:srgbClr>
            </a:outerShdw>
          </a:effectLst>
        </p:spPr>
      </p:sp>
      <p:sp>
        <p:nvSpPr>
          <p:cNvPr id="8" name="Shape 6"/>
          <p:cNvSpPr/>
          <p:nvPr/>
        </p:nvSpPr>
        <p:spPr>
          <a:xfrm>
            <a:off x="320040" y="960120"/>
            <a:ext cx="4160520" cy="310896"/>
          </a:xfrm>
          <a:prstGeom prst="rect">
            <a:avLst/>
          </a:prstGeom>
          <a:solidFill>
            <a:srgbClr val="2563EB"/>
          </a:solidFill>
          <a:ln w="12700">
            <a:solidFill>
              <a:srgbClr val="2563EB"/>
            </a:solidFill>
            <a:prstDash val="solid"/>
          </a:ln>
        </p:spPr>
      </p:sp>
      <p:sp>
        <p:nvSpPr>
          <p:cNvPr id="9" name="Text 7"/>
          <p:cNvSpPr/>
          <p:nvPr/>
        </p:nvSpPr>
        <p:spPr>
          <a:xfrm>
            <a:off x="429768" y="1005840"/>
            <a:ext cx="3931920" cy="219456"/>
          </a:xfrm>
          <a:prstGeom prst="rect">
            <a:avLst/>
          </a:prstGeom>
          <a:noFill/>
          <a:ln/>
        </p:spPr>
        <p:txBody>
          <a:bodyPr wrap="square"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Landing Page</a:t>
            </a:r>
            <a:endParaRPr lang="en-US" sz="1200" dirty="0"/>
          </a:p>
        </p:txBody>
      </p:sp>
      <p:pic>
        <p:nvPicPr>
          <p:cNvPr id="10" name="Image 0" descr="preencoded.png"/>
          <p:cNvPicPr>
            <a:picLocks noChangeAspect="1"/>
          </p:cNvPicPr>
          <p:nvPr/>
        </p:nvPicPr>
        <p:blipFill>
          <a:blip r:embed="rId3"/>
          <a:stretch>
            <a:fillRect/>
          </a:stretch>
        </p:blipFill>
        <p:spPr>
          <a:xfrm>
            <a:off x="393192" y="1344168"/>
            <a:ext cx="4005072" cy="1298448"/>
          </a:xfrm>
          <a:prstGeom prst="rect">
            <a:avLst/>
          </a:prstGeom>
        </p:spPr>
      </p:pic>
      <p:sp>
        <p:nvSpPr>
          <p:cNvPr id="11" name="Shape 8"/>
          <p:cNvSpPr/>
          <p:nvPr/>
        </p:nvSpPr>
        <p:spPr>
          <a:xfrm>
            <a:off x="4663440" y="960120"/>
            <a:ext cx="4160520" cy="1755648"/>
          </a:xfrm>
          <a:prstGeom prst="rect">
            <a:avLst/>
          </a:prstGeom>
          <a:solidFill>
            <a:srgbClr val="FFFFFF"/>
          </a:solidFill>
          <a:ln w="6350">
            <a:solidFill>
              <a:srgbClr val="CBD5E1"/>
            </a:solidFill>
            <a:prstDash val="solid"/>
          </a:ln>
          <a:effectLst>
            <a:outerShdw blurRad="101600" dist="25400" dir="8100000" algn="bl" rotWithShape="0">
              <a:srgbClr val="94A3B8">
                <a:alpha val="25000"/>
              </a:srgbClr>
            </a:outerShdw>
          </a:effectLst>
        </p:spPr>
      </p:sp>
      <p:sp>
        <p:nvSpPr>
          <p:cNvPr id="12" name="Shape 9"/>
          <p:cNvSpPr/>
          <p:nvPr/>
        </p:nvSpPr>
        <p:spPr>
          <a:xfrm>
            <a:off x="4663440" y="960120"/>
            <a:ext cx="4160520" cy="310896"/>
          </a:xfrm>
          <a:prstGeom prst="rect">
            <a:avLst/>
          </a:prstGeom>
          <a:solidFill>
            <a:srgbClr val="059669"/>
          </a:solidFill>
          <a:ln w="12700">
            <a:solidFill>
              <a:srgbClr val="059669"/>
            </a:solidFill>
            <a:prstDash val="solid"/>
          </a:ln>
        </p:spPr>
      </p:sp>
      <p:sp>
        <p:nvSpPr>
          <p:cNvPr id="13" name="Text 10"/>
          <p:cNvSpPr/>
          <p:nvPr/>
        </p:nvSpPr>
        <p:spPr>
          <a:xfrm>
            <a:off x="4773168" y="1005840"/>
            <a:ext cx="3931920" cy="219456"/>
          </a:xfrm>
          <a:prstGeom prst="rect">
            <a:avLst/>
          </a:prstGeom>
          <a:noFill/>
          <a:ln/>
        </p:spPr>
        <p:txBody>
          <a:bodyPr wrap="square"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Search &amp; Filter</a:t>
            </a:r>
            <a:endParaRPr lang="en-US" sz="1200" dirty="0"/>
          </a:p>
        </p:txBody>
      </p:sp>
      <p:pic>
        <p:nvPicPr>
          <p:cNvPr id="14" name="Image 1" descr="preencoded.png"/>
          <p:cNvPicPr>
            <a:picLocks noChangeAspect="1"/>
          </p:cNvPicPr>
          <p:nvPr/>
        </p:nvPicPr>
        <p:blipFill>
          <a:blip r:embed="rId4"/>
          <a:stretch>
            <a:fillRect/>
          </a:stretch>
        </p:blipFill>
        <p:spPr>
          <a:xfrm>
            <a:off x="4736592" y="1344168"/>
            <a:ext cx="4005072" cy="1298448"/>
          </a:xfrm>
          <a:prstGeom prst="rect">
            <a:avLst/>
          </a:prstGeom>
        </p:spPr>
      </p:pic>
      <p:sp>
        <p:nvSpPr>
          <p:cNvPr id="15" name="Shape 11"/>
          <p:cNvSpPr/>
          <p:nvPr/>
        </p:nvSpPr>
        <p:spPr>
          <a:xfrm>
            <a:off x="320040" y="2834640"/>
            <a:ext cx="4160520" cy="1755648"/>
          </a:xfrm>
          <a:prstGeom prst="rect">
            <a:avLst/>
          </a:prstGeom>
          <a:solidFill>
            <a:srgbClr val="FFFFFF"/>
          </a:solidFill>
          <a:ln w="6350">
            <a:solidFill>
              <a:srgbClr val="CBD5E1"/>
            </a:solidFill>
            <a:prstDash val="solid"/>
          </a:ln>
          <a:effectLst>
            <a:outerShdw blurRad="101600" dist="25400" dir="8100000" algn="bl" rotWithShape="0">
              <a:srgbClr val="94A3B8">
                <a:alpha val="25000"/>
              </a:srgbClr>
            </a:outerShdw>
          </a:effectLst>
        </p:spPr>
      </p:sp>
      <p:sp>
        <p:nvSpPr>
          <p:cNvPr id="16" name="Shape 12"/>
          <p:cNvSpPr/>
          <p:nvPr/>
        </p:nvSpPr>
        <p:spPr>
          <a:xfrm>
            <a:off x="320040" y="2834640"/>
            <a:ext cx="4160520" cy="310896"/>
          </a:xfrm>
          <a:prstGeom prst="rect">
            <a:avLst/>
          </a:prstGeom>
          <a:solidFill>
            <a:srgbClr val="EA580C"/>
          </a:solidFill>
          <a:ln w="12700">
            <a:solidFill>
              <a:srgbClr val="EA580C"/>
            </a:solidFill>
            <a:prstDash val="solid"/>
          </a:ln>
        </p:spPr>
      </p:sp>
      <p:sp>
        <p:nvSpPr>
          <p:cNvPr id="17" name="Text 13"/>
          <p:cNvSpPr/>
          <p:nvPr/>
        </p:nvSpPr>
        <p:spPr>
          <a:xfrm>
            <a:off x="429768" y="2880360"/>
            <a:ext cx="3931920" cy="219456"/>
          </a:xfrm>
          <a:prstGeom prst="rect">
            <a:avLst/>
          </a:prstGeom>
          <a:noFill/>
          <a:ln/>
        </p:spPr>
        <p:txBody>
          <a:bodyPr wrap="square"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User Dashboard</a:t>
            </a:r>
            <a:endParaRPr lang="en-US" sz="1200" dirty="0"/>
          </a:p>
        </p:txBody>
      </p:sp>
      <p:pic>
        <p:nvPicPr>
          <p:cNvPr id="18" name="Image 2" descr="preencoded.png"/>
          <p:cNvPicPr>
            <a:picLocks noChangeAspect="1"/>
          </p:cNvPicPr>
          <p:nvPr/>
        </p:nvPicPr>
        <p:blipFill>
          <a:blip r:embed="rId5"/>
          <a:stretch>
            <a:fillRect/>
          </a:stretch>
        </p:blipFill>
        <p:spPr>
          <a:xfrm>
            <a:off x="393192" y="3218688"/>
            <a:ext cx="4005072" cy="1298448"/>
          </a:xfrm>
          <a:prstGeom prst="rect">
            <a:avLst/>
          </a:prstGeom>
        </p:spPr>
      </p:pic>
      <p:sp>
        <p:nvSpPr>
          <p:cNvPr id="19" name="Shape 14"/>
          <p:cNvSpPr/>
          <p:nvPr/>
        </p:nvSpPr>
        <p:spPr>
          <a:xfrm>
            <a:off x="4663440" y="2834640"/>
            <a:ext cx="4160520" cy="1755648"/>
          </a:xfrm>
          <a:prstGeom prst="rect">
            <a:avLst/>
          </a:prstGeom>
          <a:solidFill>
            <a:srgbClr val="FFFFFF"/>
          </a:solidFill>
          <a:ln w="6350">
            <a:solidFill>
              <a:srgbClr val="CBD5E1"/>
            </a:solidFill>
            <a:prstDash val="solid"/>
          </a:ln>
          <a:effectLst>
            <a:outerShdw blurRad="101600" dist="25400" dir="8100000" algn="bl" rotWithShape="0">
              <a:srgbClr val="94A3B8">
                <a:alpha val="25000"/>
              </a:srgbClr>
            </a:outerShdw>
          </a:effectLst>
        </p:spPr>
      </p:sp>
      <p:sp>
        <p:nvSpPr>
          <p:cNvPr id="20" name="Shape 15"/>
          <p:cNvSpPr/>
          <p:nvPr/>
        </p:nvSpPr>
        <p:spPr>
          <a:xfrm>
            <a:off x="4663440" y="2834640"/>
            <a:ext cx="4160520" cy="310896"/>
          </a:xfrm>
          <a:prstGeom prst="rect">
            <a:avLst/>
          </a:prstGeom>
          <a:solidFill>
            <a:srgbClr val="7C3AED"/>
          </a:solidFill>
          <a:ln w="12700">
            <a:solidFill>
              <a:srgbClr val="7C3AED"/>
            </a:solidFill>
            <a:prstDash val="solid"/>
          </a:ln>
        </p:spPr>
      </p:sp>
      <p:sp>
        <p:nvSpPr>
          <p:cNvPr id="21" name="Text 16"/>
          <p:cNvSpPr/>
          <p:nvPr/>
        </p:nvSpPr>
        <p:spPr>
          <a:xfrm>
            <a:off x="4773168" y="2880360"/>
            <a:ext cx="3931920" cy="219456"/>
          </a:xfrm>
          <a:prstGeom prst="rect">
            <a:avLst/>
          </a:prstGeom>
          <a:noFill/>
          <a:ln/>
        </p:spPr>
        <p:txBody>
          <a:bodyPr wrap="square"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Admin Bookings</a:t>
            </a:r>
            <a:endParaRPr lang="en-US" sz="1200" dirty="0"/>
          </a:p>
        </p:txBody>
      </p:sp>
      <p:pic>
        <p:nvPicPr>
          <p:cNvPr id="22" name="Image 3" descr="preencoded.png"/>
          <p:cNvPicPr>
            <a:picLocks noChangeAspect="1"/>
          </p:cNvPicPr>
          <p:nvPr/>
        </p:nvPicPr>
        <p:blipFill>
          <a:blip r:embed="rId6"/>
          <a:stretch>
            <a:fillRect/>
          </a:stretch>
        </p:blipFill>
        <p:spPr>
          <a:xfrm>
            <a:off x="4736592" y="3218688"/>
            <a:ext cx="4005072" cy="1298448"/>
          </a:xfrm>
          <a:prstGeom prst="rect">
            <a:avLst/>
          </a:prstGeom>
        </p:spPr>
      </p:pic>
      <p:sp>
        <p:nvSpPr>
          <p:cNvPr id="23" name="Text 17"/>
          <p:cNvSpPr/>
          <p:nvPr/>
        </p:nvSpPr>
        <p:spPr>
          <a:xfrm>
            <a:off x="320040" y="4681728"/>
            <a:ext cx="8503920" cy="237744"/>
          </a:xfrm>
          <a:prstGeom prst="rect">
            <a:avLst/>
          </a:prstGeom>
          <a:noFill/>
          <a:ln/>
        </p:spPr>
        <p:txBody>
          <a:bodyPr wrap="square" rtlCol="0" anchor="ctr"/>
          <a:lstStyle/>
          <a:p>
            <a:pPr marL="0" indent="0" algn="ctr">
              <a:buNone/>
            </a:pPr>
            <a:r>
              <a:rPr lang="en-US" sz="900" i="1" dirty="0">
                <a:solidFill>
                  <a:srgbClr val="94A3B8"/>
                </a:solidFill>
                <a:latin typeface="Calibri" pitchFamily="34" charset="0"/>
                <a:ea typeface="Calibri" pitchFamily="34" charset="-122"/>
                <a:cs typeface="Calibri" pitchFamily="34" charset="-120"/>
              </a:rPr>
              <a:t>Live Website: https://jakkulasrivaishnavi.github.io/servnex  |  All screens captured from the working application</a:t>
            </a:r>
            <a:endParaRPr lang="en-US" sz="900" dirty="0"/>
          </a:p>
        </p:txBody>
      </p:sp>
      <p:sp>
        <p:nvSpPr>
          <p:cNvPr id="24" name="Shape 18"/>
          <p:cNvSpPr/>
          <p:nvPr/>
        </p:nvSpPr>
        <p:spPr>
          <a:xfrm>
            <a:off x="0" y="4956048"/>
            <a:ext cx="9144000" cy="187452"/>
          </a:xfrm>
          <a:prstGeom prst="rect">
            <a:avLst/>
          </a:prstGeom>
          <a:solidFill>
            <a:srgbClr val="E2E8F0"/>
          </a:solidFill>
          <a:ln w="12700">
            <a:solidFill>
              <a:srgbClr val="CBD5E1"/>
            </a:solidFill>
            <a:prstDash val="solid"/>
          </a:ln>
        </p:spPr>
      </p:sp>
      <p:sp>
        <p:nvSpPr>
          <p:cNvPr id="25" name="Text 19"/>
          <p:cNvSpPr/>
          <p:nvPr/>
        </p:nvSpPr>
        <p:spPr>
          <a:xfrm>
            <a:off x="320040" y="4983480"/>
            <a:ext cx="5486400" cy="13716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ServNex  —  Local Services Platform</a:t>
            </a:r>
            <a:endParaRPr lang="en-US" sz="800" dirty="0"/>
          </a:p>
        </p:txBody>
      </p:sp>
      <p:sp>
        <p:nvSpPr>
          <p:cNvPr id="26" name="Text 20"/>
          <p:cNvSpPr/>
          <p:nvPr/>
        </p:nvSpPr>
        <p:spPr>
          <a:xfrm>
            <a:off x="7772400" y="4983480"/>
            <a:ext cx="1051560" cy="137160"/>
          </a:xfrm>
          <a:prstGeom prst="rect">
            <a:avLst/>
          </a:prstGeom>
          <a:noFill/>
          <a:ln/>
        </p:spPr>
        <p:txBody>
          <a:bodyPr wrap="square"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9 / 11</a:t>
            </a:r>
            <a:endParaRPr lang="en-US" sz="800" dirty="0"/>
          </a:p>
        </p:txBody>
      </p:sp>
      <p:sp>
        <p:nvSpPr>
          <p:cNvPr id="27" name="Shape 21"/>
          <p:cNvSpPr/>
          <p:nvPr/>
        </p:nvSpPr>
        <p:spPr>
          <a:xfrm>
            <a:off x="0" y="4956048"/>
            <a:ext cx="7481455" cy="27432"/>
          </a:xfrm>
          <a:prstGeom prst="rect">
            <a:avLst/>
          </a:prstGeom>
          <a:solidFill>
            <a:srgbClr val="2563EB"/>
          </a:solidFill>
          <a:ln w="12700">
            <a:solidFill>
              <a:srgbClr val="2563EB"/>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320040" y="182880"/>
            <a:ext cx="54864" cy="566928"/>
          </a:xfrm>
          <a:prstGeom prst="rect">
            <a:avLst/>
          </a:prstGeom>
          <a:solidFill>
            <a:srgbClr val="EA580C"/>
          </a:solidFill>
          <a:ln w="12700">
            <a:solidFill>
              <a:srgbClr val="EA580C"/>
            </a:solidFill>
            <a:prstDash val="solid"/>
          </a:ln>
        </p:spPr>
      </p:sp>
      <p:sp>
        <p:nvSpPr>
          <p:cNvPr id="3" name="Shape 1"/>
          <p:cNvSpPr/>
          <p:nvPr/>
        </p:nvSpPr>
        <p:spPr>
          <a:xfrm>
            <a:off x="457200" y="182880"/>
            <a:ext cx="502920" cy="274320"/>
          </a:xfrm>
          <a:prstGeom prst="rect">
            <a:avLst/>
          </a:prstGeom>
          <a:solidFill>
            <a:srgbClr val="EA580C">
              <a:alpha val="20000"/>
            </a:srgbClr>
          </a:solidFill>
          <a:ln w="6350">
            <a:solidFill>
              <a:srgbClr val="EA580C"/>
            </a:solidFill>
            <a:prstDash val="solid"/>
          </a:ln>
        </p:spPr>
      </p:sp>
      <p:sp>
        <p:nvSpPr>
          <p:cNvPr id="4" name="Text 2"/>
          <p:cNvSpPr/>
          <p:nvPr/>
        </p:nvSpPr>
        <p:spPr>
          <a:xfrm>
            <a:off x="457200" y="182880"/>
            <a:ext cx="502920" cy="274320"/>
          </a:xfrm>
          <a:prstGeom prst="rect">
            <a:avLst/>
          </a:prstGeom>
          <a:noFill/>
          <a:ln/>
        </p:spPr>
        <p:txBody>
          <a:bodyPr wrap="square" rtlCol="0" anchor="ctr"/>
          <a:lstStyle/>
          <a:p>
            <a:pPr marL="0" indent="0" algn="ctr">
              <a:buNone/>
            </a:pPr>
            <a:r>
              <a:rPr lang="en-US" sz="900" b="1" dirty="0">
                <a:solidFill>
                  <a:srgbClr val="EA580C"/>
                </a:solidFill>
                <a:latin typeface="Arial Black" pitchFamily="34" charset="0"/>
                <a:ea typeface="Arial Black" pitchFamily="34" charset="-122"/>
                <a:cs typeface="Arial Black" pitchFamily="34" charset="-120"/>
              </a:rPr>
              <a:t>09</a:t>
            </a:r>
            <a:endParaRPr lang="en-US" sz="900" dirty="0"/>
          </a:p>
        </p:txBody>
      </p:sp>
      <p:sp>
        <p:nvSpPr>
          <p:cNvPr id="5" name="Text 3"/>
          <p:cNvSpPr/>
          <p:nvPr/>
        </p:nvSpPr>
        <p:spPr>
          <a:xfrm>
            <a:off x="1078992" y="164592"/>
            <a:ext cx="7772400" cy="438912"/>
          </a:xfrm>
          <a:prstGeom prst="rect">
            <a:avLst/>
          </a:prstGeom>
          <a:noFill/>
          <a:ln/>
        </p:spPr>
        <p:txBody>
          <a:bodyPr wrap="square" lIns="0" tIns="0" rIns="0" bIns="0" rtlCol="0" anchor="ctr"/>
          <a:lstStyle/>
          <a:p>
            <a:pPr marL="0" indent="0">
              <a:buNone/>
            </a:pPr>
            <a:r>
              <a:rPr lang="en-US" sz="2200" b="1" dirty="0">
                <a:solidFill>
                  <a:srgbClr val="1E3A5F"/>
                </a:solidFill>
                <a:latin typeface="Arial Black" pitchFamily="34" charset="0"/>
                <a:ea typeface="Arial Black" pitchFamily="34" charset="-122"/>
                <a:cs typeface="Arial Black" pitchFamily="34" charset="-120"/>
              </a:rPr>
              <a:t>Proof of Prompts Generating Code</a:t>
            </a:r>
            <a:endParaRPr lang="en-US" sz="2200" dirty="0"/>
          </a:p>
        </p:txBody>
      </p:sp>
      <p:sp>
        <p:nvSpPr>
          <p:cNvPr id="6" name="Shape 4"/>
          <p:cNvSpPr/>
          <p:nvPr/>
        </p:nvSpPr>
        <p:spPr>
          <a:xfrm>
            <a:off x="320040" y="749808"/>
            <a:ext cx="8503920" cy="22860"/>
          </a:xfrm>
          <a:prstGeom prst="rect">
            <a:avLst/>
          </a:prstGeom>
          <a:solidFill>
            <a:srgbClr val="EA580C">
              <a:alpha val="50000"/>
            </a:srgbClr>
          </a:solidFill>
          <a:ln w="12700">
            <a:solidFill>
              <a:srgbClr val="EA580C"/>
            </a:solidFill>
            <a:prstDash val="solid"/>
          </a:ln>
        </p:spPr>
      </p:sp>
      <p:sp>
        <p:nvSpPr>
          <p:cNvPr id="7" name="Shape 5"/>
          <p:cNvSpPr/>
          <p:nvPr/>
        </p:nvSpPr>
        <p:spPr>
          <a:xfrm>
            <a:off x="320040" y="960120"/>
            <a:ext cx="4937760" cy="3291840"/>
          </a:xfrm>
          <a:prstGeom prst="rect">
            <a:avLst/>
          </a:prstGeom>
          <a:solidFill>
            <a:srgbClr val="FFFFFF"/>
          </a:solidFill>
          <a:ln w="6350">
            <a:solidFill>
              <a:srgbClr val="CBD5E1"/>
            </a:solidFill>
            <a:prstDash val="solid"/>
          </a:ln>
          <a:effectLst>
            <a:outerShdw blurRad="101600" dist="25400" dir="8100000" algn="bl" rotWithShape="0">
              <a:srgbClr val="94A3B8">
                <a:alpha val="25000"/>
              </a:srgbClr>
            </a:outerShdw>
          </a:effectLst>
        </p:spPr>
      </p:sp>
      <p:sp>
        <p:nvSpPr>
          <p:cNvPr id="8" name="Shape 6"/>
          <p:cNvSpPr/>
          <p:nvPr/>
        </p:nvSpPr>
        <p:spPr>
          <a:xfrm>
            <a:off x="320040" y="960120"/>
            <a:ext cx="4937760" cy="292608"/>
          </a:xfrm>
          <a:prstGeom prst="rect">
            <a:avLst/>
          </a:prstGeom>
          <a:solidFill>
            <a:srgbClr val="EA580C"/>
          </a:solidFill>
          <a:ln w="12700">
            <a:solidFill>
              <a:srgbClr val="EA580C"/>
            </a:solidFill>
            <a:prstDash val="solid"/>
          </a:ln>
        </p:spPr>
      </p:sp>
      <p:sp>
        <p:nvSpPr>
          <p:cNvPr id="9" name="Text 7"/>
          <p:cNvSpPr/>
          <p:nvPr/>
        </p:nvSpPr>
        <p:spPr>
          <a:xfrm>
            <a:off x="438912" y="978408"/>
            <a:ext cx="4663440" cy="256032"/>
          </a:xfrm>
          <a:prstGeom prst="rect">
            <a:avLst/>
          </a:prstGeom>
          <a:noFill/>
          <a:ln/>
        </p:spPr>
        <p:txBody>
          <a:bodyPr wrap="square" rtlCol="0" anchor="ctr"/>
          <a:lstStyle/>
          <a:p>
            <a:pPr marL="0" indent="0">
              <a:buNone/>
            </a:pPr>
            <a:r>
              <a:rPr lang="en-US" sz="1100" b="1" dirty="0">
                <a:solidFill>
                  <a:srgbClr val="FFFFFF"/>
                </a:solidFill>
                <a:latin typeface="Arial Black" pitchFamily="34" charset="0"/>
                <a:ea typeface="Arial Black" pitchFamily="34" charset="-122"/>
                <a:cs typeface="Arial Black" pitchFamily="34" charset="-120"/>
              </a:rPr>
              <a:t>Actual Claude AI Conversation</a:t>
            </a:r>
            <a:endParaRPr lang="en-US" sz="1100" dirty="0"/>
          </a:p>
        </p:txBody>
      </p:sp>
      <p:pic>
        <p:nvPicPr>
          <p:cNvPr id="10" name="Image 0" descr="preencoded.png"/>
          <p:cNvPicPr>
            <a:picLocks noChangeAspect="1"/>
          </p:cNvPicPr>
          <p:nvPr/>
        </p:nvPicPr>
        <p:blipFill>
          <a:blip r:embed="rId3"/>
          <a:stretch>
            <a:fillRect/>
          </a:stretch>
        </p:blipFill>
        <p:spPr>
          <a:xfrm>
            <a:off x="384048" y="1316736"/>
            <a:ext cx="4800600" cy="2852928"/>
          </a:xfrm>
          <a:prstGeom prst="rect">
            <a:avLst/>
          </a:prstGeom>
        </p:spPr>
      </p:pic>
      <p:sp>
        <p:nvSpPr>
          <p:cNvPr id="11" name="Shape 8"/>
          <p:cNvSpPr/>
          <p:nvPr/>
        </p:nvSpPr>
        <p:spPr>
          <a:xfrm>
            <a:off x="5413248" y="960120"/>
            <a:ext cx="3401568" cy="694944"/>
          </a:xfrm>
          <a:prstGeom prst="rect">
            <a:avLst/>
          </a:prstGeom>
          <a:solidFill>
            <a:srgbClr val="F0F4FF"/>
          </a:solidFill>
          <a:ln w="6350">
            <a:solidFill>
              <a:srgbClr val="CBD5E1"/>
            </a:solidFill>
            <a:prstDash val="solid"/>
          </a:ln>
          <a:effectLst>
            <a:outerShdw blurRad="101600" dist="25400" dir="8100000" algn="bl" rotWithShape="0">
              <a:srgbClr val="94A3B8">
                <a:alpha val="25000"/>
              </a:srgbClr>
            </a:outerShdw>
          </a:effectLst>
        </p:spPr>
      </p:sp>
      <p:sp>
        <p:nvSpPr>
          <p:cNvPr id="12" name="Shape 9"/>
          <p:cNvSpPr/>
          <p:nvPr/>
        </p:nvSpPr>
        <p:spPr>
          <a:xfrm>
            <a:off x="5413248" y="960120"/>
            <a:ext cx="54864" cy="694944"/>
          </a:xfrm>
          <a:prstGeom prst="rect">
            <a:avLst/>
          </a:prstGeom>
          <a:solidFill>
            <a:srgbClr val="2563EB"/>
          </a:solidFill>
          <a:ln w="12700">
            <a:solidFill>
              <a:srgbClr val="2563EB"/>
            </a:solidFill>
            <a:prstDash val="solid"/>
          </a:ln>
        </p:spPr>
      </p:sp>
      <p:sp>
        <p:nvSpPr>
          <p:cNvPr id="13" name="Text 10"/>
          <p:cNvSpPr/>
          <p:nvPr/>
        </p:nvSpPr>
        <p:spPr>
          <a:xfrm>
            <a:off x="5559552" y="1014984"/>
            <a:ext cx="1005840" cy="585216"/>
          </a:xfrm>
          <a:prstGeom prst="rect">
            <a:avLst/>
          </a:prstGeom>
          <a:noFill/>
          <a:ln/>
        </p:spPr>
        <p:txBody>
          <a:bodyPr wrap="square" rtlCol="0" anchor="ctr"/>
          <a:lstStyle/>
          <a:p>
            <a:pPr marL="0" indent="0">
              <a:buNone/>
            </a:pPr>
            <a:r>
              <a:rPr lang="en-US" sz="2600" b="1" dirty="0">
                <a:solidFill>
                  <a:srgbClr val="2563EB"/>
                </a:solidFill>
                <a:latin typeface="Arial Black" pitchFamily="34" charset="0"/>
                <a:ea typeface="Arial Black" pitchFamily="34" charset="-122"/>
                <a:cs typeface="Arial Black" pitchFamily="34" charset="-120"/>
              </a:rPr>
              <a:t>51</a:t>
            </a:r>
            <a:endParaRPr lang="en-US" sz="2600" dirty="0"/>
          </a:p>
        </p:txBody>
      </p:sp>
      <p:sp>
        <p:nvSpPr>
          <p:cNvPr id="14" name="Text 11"/>
          <p:cNvSpPr/>
          <p:nvPr/>
        </p:nvSpPr>
        <p:spPr>
          <a:xfrm>
            <a:off x="6601968" y="1143000"/>
            <a:ext cx="2103120" cy="329184"/>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Files Generated</a:t>
            </a:r>
            <a:endParaRPr lang="en-US" sz="1100" dirty="0"/>
          </a:p>
        </p:txBody>
      </p:sp>
      <p:sp>
        <p:nvSpPr>
          <p:cNvPr id="15" name="Shape 12"/>
          <p:cNvSpPr/>
          <p:nvPr/>
        </p:nvSpPr>
        <p:spPr>
          <a:xfrm>
            <a:off x="5413248" y="1764792"/>
            <a:ext cx="3401568" cy="694944"/>
          </a:xfrm>
          <a:prstGeom prst="rect">
            <a:avLst/>
          </a:prstGeom>
          <a:solidFill>
            <a:srgbClr val="F0F4FF"/>
          </a:solidFill>
          <a:ln w="6350">
            <a:solidFill>
              <a:srgbClr val="CBD5E1"/>
            </a:solidFill>
            <a:prstDash val="solid"/>
          </a:ln>
          <a:effectLst>
            <a:outerShdw blurRad="101600" dist="25400" dir="8100000" algn="bl" rotWithShape="0">
              <a:srgbClr val="94A3B8">
                <a:alpha val="25000"/>
              </a:srgbClr>
            </a:outerShdw>
          </a:effectLst>
        </p:spPr>
      </p:sp>
      <p:sp>
        <p:nvSpPr>
          <p:cNvPr id="16" name="Shape 13"/>
          <p:cNvSpPr/>
          <p:nvPr/>
        </p:nvSpPr>
        <p:spPr>
          <a:xfrm>
            <a:off x="5413248" y="1764792"/>
            <a:ext cx="54864" cy="694944"/>
          </a:xfrm>
          <a:prstGeom prst="rect">
            <a:avLst/>
          </a:prstGeom>
          <a:solidFill>
            <a:srgbClr val="059669"/>
          </a:solidFill>
          <a:ln w="12700">
            <a:solidFill>
              <a:srgbClr val="059669"/>
            </a:solidFill>
            <a:prstDash val="solid"/>
          </a:ln>
        </p:spPr>
      </p:sp>
      <p:sp>
        <p:nvSpPr>
          <p:cNvPr id="17" name="Text 14"/>
          <p:cNvSpPr/>
          <p:nvPr/>
        </p:nvSpPr>
        <p:spPr>
          <a:xfrm>
            <a:off x="5559552" y="1819656"/>
            <a:ext cx="1005840" cy="585216"/>
          </a:xfrm>
          <a:prstGeom prst="rect">
            <a:avLst/>
          </a:prstGeom>
          <a:noFill/>
          <a:ln/>
        </p:spPr>
        <p:txBody>
          <a:bodyPr wrap="square" rtlCol="0" anchor="ctr"/>
          <a:lstStyle/>
          <a:p>
            <a:pPr marL="0" indent="0">
              <a:buNone/>
            </a:pPr>
            <a:r>
              <a:rPr lang="en-US" sz="2600" b="1" dirty="0">
                <a:solidFill>
                  <a:srgbClr val="059669"/>
                </a:solidFill>
                <a:latin typeface="Arial Black" pitchFamily="34" charset="0"/>
                <a:ea typeface="Arial Black" pitchFamily="34" charset="-122"/>
                <a:cs typeface="Arial Black" pitchFamily="34" charset="-120"/>
              </a:rPr>
              <a:t>6</a:t>
            </a:r>
            <a:endParaRPr lang="en-US" sz="2600" dirty="0"/>
          </a:p>
        </p:txBody>
      </p:sp>
      <p:sp>
        <p:nvSpPr>
          <p:cNvPr id="18" name="Text 15"/>
          <p:cNvSpPr/>
          <p:nvPr/>
        </p:nvSpPr>
        <p:spPr>
          <a:xfrm>
            <a:off x="6601968" y="1947672"/>
            <a:ext cx="2103120" cy="329184"/>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Prompts Used</a:t>
            </a:r>
            <a:endParaRPr lang="en-US" sz="1100" dirty="0"/>
          </a:p>
        </p:txBody>
      </p:sp>
      <p:sp>
        <p:nvSpPr>
          <p:cNvPr id="21" name="Text 18"/>
          <p:cNvSpPr/>
          <p:nvPr/>
        </p:nvSpPr>
        <p:spPr>
          <a:xfrm>
            <a:off x="5559552" y="2624328"/>
            <a:ext cx="1005840" cy="585216"/>
          </a:xfrm>
          <a:prstGeom prst="rect">
            <a:avLst/>
          </a:prstGeom>
          <a:noFill/>
          <a:ln/>
        </p:spPr>
        <p:txBody>
          <a:bodyPr wrap="square" rtlCol="0" anchor="ctr"/>
          <a:lstStyle/>
          <a:p>
            <a:pPr marL="0" indent="0">
              <a:buNone/>
            </a:pPr>
            <a:endParaRPr lang="en-US" sz="2600" dirty="0"/>
          </a:p>
        </p:txBody>
      </p:sp>
      <p:sp>
        <p:nvSpPr>
          <p:cNvPr id="25" name="Text 22"/>
          <p:cNvSpPr/>
          <p:nvPr/>
        </p:nvSpPr>
        <p:spPr>
          <a:xfrm>
            <a:off x="5552518" y="3429000"/>
            <a:ext cx="1005840" cy="585216"/>
          </a:xfrm>
          <a:prstGeom prst="rect">
            <a:avLst/>
          </a:prstGeom>
          <a:noFill/>
          <a:ln/>
        </p:spPr>
        <p:txBody>
          <a:bodyPr wrap="square" rtlCol="0" anchor="ctr"/>
          <a:lstStyle/>
          <a:p>
            <a:pPr marL="0" indent="0">
              <a:buNone/>
            </a:pPr>
            <a:endParaRPr lang="en-US" sz="2600" dirty="0"/>
          </a:p>
        </p:txBody>
      </p:sp>
      <p:sp>
        <p:nvSpPr>
          <p:cNvPr id="26" name="Text 23"/>
          <p:cNvSpPr/>
          <p:nvPr/>
        </p:nvSpPr>
        <p:spPr>
          <a:xfrm>
            <a:off x="6601968" y="3557016"/>
            <a:ext cx="2103120" cy="329184"/>
          </a:xfrm>
          <a:prstGeom prst="rect">
            <a:avLst/>
          </a:prstGeom>
          <a:noFill/>
          <a:ln/>
        </p:spPr>
        <p:txBody>
          <a:bodyPr wrap="square" rtlCol="0" anchor="ctr"/>
          <a:lstStyle/>
          <a:p>
            <a:pPr marL="0" indent="0">
              <a:buNone/>
            </a:pPr>
            <a:endParaRPr lang="en-US" sz="1100" dirty="0"/>
          </a:p>
        </p:txBody>
      </p:sp>
      <p:sp>
        <p:nvSpPr>
          <p:cNvPr id="27" name="Text 24"/>
          <p:cNvSpPr/>
          <p:nvPr/>
        </p:nvSpPr>
        <p:spPr>
          <a:xfrm>
            <a:off x="320040" y="4681728"/>
            <a:ext cx="8503920" cy="237744"/>
          </a:xfrm>
          <a:prstGeom prst="rect">
            <a:avLst/>
          </a:prstGeom>
          <a:noFill/>
          <a:ln/>
        </p:spPr>
        <p:txBody>
          <a:bodyPr wrap="square" rtlCol="0" anchor="ctr"/>
          <a:lstStyle/>
          <a:p>
            <a:pPr marL="0" indent="0" algn="ctr">
              <a:buNone/>
            </a:pPr>
            <a:r>
              <a:rPr lang="en-US" sz="900" i="1" dirty="0">
                <a:solidFill>
                  <a:srgbClr val="94A3B8"/>
                </a:solidFill>
                <a:latin typeface="Calibri" pitchFamily="34" charset="0"/>
                <a:ea typeface="Calibri" pitchFamily="34" charset="-122"/>
                <a:cs typeface="Calibri" pitchFamily="34" charset="-120"/>
              </a:rPr>
              <a:t>Tool: Claude AI (Anthropic)  |  Model: Claude Sonnet 4.6  |  Conversation at: claude.ai</a:t>
            </a:r>
            <a:endParaRPr lang="en-US" sz="900" dirty="0"/>
          </a:p>
        </p:txBody>
      </p:sp>
      <p:sp>
        <p:nvSpPr>
          <p:cNvPr id="28" name="Shape 25"/>
          <p:cNvSpPr/>
          <p:nvPr/>
        </p:nvSpPr>
        <p:spPr>
          <a:xfrm>
            <a:off x="0" y="4956048"/>
            <a:ext cx="9144000" cy="187452"/>
          </a:xfrm>
          <a:prstGeom prst="rect">
            <a:avLst/>
          </a:prstGeom>
          <a:solidFill>
            <a:srgbClr val="E2E8F0"/>
          </a:solidFill>
          <a:ln w="12700">
            <a:solidFill>
              <a:srgbClr val="CBD5E1"/>
            </a:solidFill>
            <a:prstDash val="solid"/>
          </a:ln>
        </p:spPr>
      </p:sp>
      <p:sp>
        <p:nvSpPr>
          <p:cNvPr id="29" name="Text 26"/>
          <p:cNvSpPr/>
          <p:nvPr/>
        </p:nvSpPr>
        <p:spPr>
          <a:xfrm>
            <a:off x="320040" y="4983480"/>
            <a:ext cx="5486400" cy="13716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ServNex  —  Local Services Platform</a:t>
            </a:r>
            <a:endParaRPr lang="en-US" sz="800" dirty="0"/>
          </a:p>
        </p:txBody>
      </p:sp>
      <p:sp>
        <p:nvSpPr>
          <p:cNvPr id="30" name="Text 27"/>
          <p:cNvSpPr/>
          <p:nvPr/>
        </p:nvSpPr>
        <p:spPr>
          <a:xfrm>
            <a:off x="7772400" y="4983480"/>
            <a:ext cx="1051560" cy="137160"/>
          </a:xfrm>
          <a:prstGeom prst="rect">
            <a:avLst/>
          </a:prstGeom>
          <a:noFill/>
          <a:ln/>
        </p:spPr>
        <p:txBody>
          <a:bodyPr wrap="square"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10 / 11</a:t>
            </a:r>
            <a:endParaRPr lang="en-US" sz="800" dirty="0"/>
          </a:p>
        </p:txBody>
      </p:sp>
      <p:sp>
        <p:nvSpPr>
          <p:cNvPr id="31" name="Shape 28"/>
          <p:cNvSpPr/>
          <p:nvPr/>
        </p:nvSpPr>
        <p:spPr>
          <a:xfrm>
            <a:off x="0" y="4956048"/>
            <a:ext cx="8312727" cy="27432"/>
          </a:xfrm>
          <a:prstGeom prst="rect">
            <a:avLst/>
          </a:prstGeom>
          <a:solidFill>
            <a:srgbClr val="2563EB"/>
          </a:solidFill>
          <a:ln w="12700">
            <a:solidFill>
              <a:srgbClr val="2563EB"/>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320040" y="182880"/>
            <a:ext cx="54864" cy="566928"/>
          </a:xfrm>
          <a:prstGeom prst="rect">
            <a:avLst/>
          </a:prstGeom>
          <a:solidFill>
            <a:srgbClr val="94A3B8"/>
          </a:solidFill>
          <a:ln w="12700">
            <a:solidFill>
              <a:srgbClr val="94A3B8"/>
            </a:solidFill>
            <a:prstDash val="solid"/>
          </a:ln>
        </p:spPr>
      </p:sp>
      <p:sp>
        <p:nvSpPr>
          <p:cNvPr id="3" name="Shape 1"/>
          <p:cNvSpPr/>
          <p:nvPr/>
        </p:nvSpPr>
        <p:spPr>
          <a:xfrm>
            <a:off x="457200" y="182880"/>
            <a:ext cx="502920" cy="274320"/>
          </a:xfrm>
          <a:prstGeom prst="rect">
            <a:avLst/>
          </a:prstGeom>
          <a:solidFill>
            <a:srgbClr val="94A3B8">
              <a:alpha val="20000"/>
            </a:srgbClr>
          </a:solidFill>
          <a:ln w="6350">
            <a:solidFill>
              <a:srgbClr val="94A3B8"/>
            </a:solidFill>
            <a:prstDash val="solid"/>
          </a:ln>
        </p:spPr>
      </p:sp>
      <p:sp>
        <p:nvSpPr>
          <p:cNvPr id="4" name="Text 2"/>
          <p:cNvSpPr/>
          <p:nvPr/>
        </p:nvSpPr>
        <p:spPr>
          <a:xfrm>
            <a:off x="457200" y="182880"/>
            <a:ext cx="502920" cy="274320"/>
          </a:xfrm>
          <a:prstGeom prst="rect">
            <a:avLst/>
          </a:prstGeom>
          <a:noFill/>
          <a:ln/>
        </p:spPr>
        <p:txBody>
          <a:bodyPr wrap="square" rtlCol="0" anchor="ctr"/>
          <a:lstStyle/>
          <a:p>
            <a:pPr marL="0" indent="0" algn="ctr">
              <a:buNone/>
            </a:pPr>
            <a:r>
              <a:rPr lang="en-US" sz="900" b="1" dirty="0">
                <a:solidFill>
                  <a:srgbClr val="94A3B8"/>
                </a:solidFill>
                <a:latin typeface="Arial Black" pitchFamily="34" charset="0"/>
                <a:ea typeface="Arial Black" pitchFamily="34" charset="-122"/>
                <a:cs typeface="Arial Black" pitchFamily="34" charset="-120"/>
              </a:rPr>
              <a:t>10</a:t>
            </a:r>
            <a:endParaRPr lang="en-US" sz="900" dirty="0"/>
          </a:p>
        </p:txBody>
      </p:sp>
      <p:sp>
        <p:nvSpPr>
          <p:cNvPr id="5" name="Text 3"/>
          <p:cNvSpPr/>
          <p:nvPr/>
        </p:nvSpPr>
        <p:spPr>
          <a:xfrm>
            <a:off x="1078992" y="164592"/>
            <a:ext cx="7772400" cy="438912"/>
          </a:xfrm>
          <a:prstGeom prst="rect">
            <a:avLst/>
          </a:prstGeom>
          <a:noFill/>
          <a:ln/>
        </p:spPr>
        <p:txBody>
          <a:bodyPr wrap="square" lIns="0" tIns="0" rIns="0" bIns="0" rtlCol="0" anchor="ctr"/>
          <a:lstStyle/>
          <a:p>
            <a:pPr marL="0" indent="0">
              <a:buNone/>
            </a:pPr>
            <a:r>
              <a:rPr lang="en-US" sz="2200" b="1" dirty="0">
                <a:solidFill>
                  <a:srgbClr val="1E3A5F"/>
                </a:solidFill>
                <a:latin typeface="Arial Black" pitchFamily="34" charset="0"/>
                <a:ea typeface="Arial Black" pitchFamily="34" charset="-122"/>
                <a:cs typeface="Arial Black" pitchFamily="34" charset="-120"/>
              </a:rPr>
              <a:t>References</a:t>
            </a:r>
            <a:endParaRPr lang="en-US" sz="2200" dirty="0"/>
          </a:p>
        </p:txBody>
      </p:sp>
      <p:sp>
        <p:nvSpPr>
          <p:cNvPr id="6" name="Shape 4"/>
          <p:cNvSpPr/>
          <p:nvPr/>
        </p:nvSpPr>
        <p:spPr>
          <a:xfrm>
            <a:off x="320040" y="749808"/>
            <a:ext cx="8503920" cy="22860"/>
          </a:xfrm>
          <a:prstGeom prst="rect">
            <a:avLst/>
          </a:prstGeom>
          <a:solidFill>
            <a:srgbClr val="94A3B8">
              <a:alpha val="50000"/>
            </a:srgbClr>
          </a:solidFill>
          <a:ln w="12700">
            <a:solidFill>
              <a:srgbClr val="94A3B8"/>
            </a:solidFill>
            <a:prstDash val="solid"/>
          </a:ln>
        </p:spPr>
      </p:sp>
      <p:sp>
        <p:nvSpPr>
          <p:cNvPr id="7" name="Shape 5"/>
          <p:cNvSpPr/>
          <p:nvPr/>
        </p:nvSpPr>
        <p:spPr>
          <a:xfrm>
            <a:off x="320040" y="987552"/>
            <a:ext cx="2743200" cy="1682496"/>
          </a:xfrm>
          <a:prstGeom prst="rect">
            <a:avLst/>
          </a:prstGeom>
          <a:solidFill>
            <a:srgbClr val="FFFFFF"/>
          </a:solidFill>
          <a:ln w="6350">
            <a:solidFill>
              <a:srgbClr val="CBD5E1"/>
            </a:solidFill>
            <a:prstDash val="solid"/>
          </a:ln>
          <a:effectLst>
            <a:outerShdw blurRad="101600" dist="25400" dir="8100000" algn="bl" rotWithShape="0">
              <a:srgbClr val="94A3B8">
                <a:alpha val="25000"/>
              </a:srgbClr>
            </a:outerShdw>
          </a:effectLst>
        </p:spPr>
      </p:sp>
      <p:sp>
        <p:nvSpPr>
          <p:cNvPr id="8" name="Shape 6"/>
          <p:cNvSpPr/>
          <p:nvPr/>
        </p:nvSpPr>
        <p:spPr>
          <a:xfrm>
            <a:off x="320040" y="987552"/>
            <a:ext cx="64008" cy="1682496"/>
          </a:xfrm>
          <a:prstGeom prst="rect">
            <a:avLst/>
          </a:prstGeom>
          <a:solidFill>
            <a:srgbClr val="2563EB"/>
          </a:solidFill>
          <a:ln w="12700">
            <a:solidFill>
              <a:srgbClr val="2563EB"/>
            </a:solidFill>
            <a:prstDash val="solid"/>
          </a:ln>
        </p:spPr>
      </p:sp>
      <p:sp>
        <p:nvSpPr>
          <p:cNvPr id="9" name="Text 7"/>
          <p:cNvSpPr/>
          <p:nvPr/>
        </p:nvSpPr>
        <p:spPr>
          <a:xfrm>
            <a:off x="502920" y="1078992"/>
            <a:ext cx="2468880" cy="310896"/>
          </a:xfrm>
          <a:prstGeom prst="rect">
            <a:avLst/>
          </a:prstGeom>
          <a:noFill/>
          <a:ln/>
        </p:spPr>
        <p:txBody>
          <a:bodyPr wrap="square" rtlCol="0" anchor="ctr"/>
          <a:lstStyle/>
          <a:p>
            <a:pPr marL="0" indent="0">
              <a:buNone/>
            </a:pPr>
            <a:r>
              <a:rPr lang="en-US" sz="1200" b="1" dirty="0">
                <a:solidFill>
                  <a:srgbClr val="2563EB"/>
                </a:solidFill>
                <a:latin typeface="Arial Black" pitchFamily="34" charset="0"/>
                <a:ea typeface="Arial Black" pitchFamily="34" charset="-122"/>
                <a:cs typeface="Arial Black" pitchFamily="34" charset="-120"/>
              </a:rPr>
              <a:t>AI Tool Used</a:t>
            </a:r>
            <a:endParaRPr lang="en-US" sz="1200" dirty="0"/>
          </a:p>
        </p:txBody>
      </p:sp>
      <p:sp>
        <p:nvSpPr>
          <p:cNvPr id="10" name="Text 8"/>
          <p:cNvSpPr/>
          <p:nvPr/>
        </p:nvSpPr>
        <p:spPr>
          <a:xfrm>
            <a:off x="502920" y="1444752"/>
            <a:ext cx="2468880" cy="1133856"/>
          </a:xfrm>
          <a:prstGeom prst="rect">
            <a:avLst/>
          </a:prstGeom>
          <a:noFill/>
          <a:ln/>
        </p:spPr>
        <p:txBody>
          <a:bodyPr wrap="square" rtlCol="0" anchor="t"/>
          <a:lstStyle/>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Claude AI by Anthropic — claude.ai</a:t>
            </a:r>
            <a:endParaRPr lang="en-US" sz="1000" dirty="0"/>
          </a:p>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Model: Claude Sonnet 4.6 (claude-sonnet-4-6)</a:t>
            </a:r>
            <a:endParaRPr lang="en-US" sz="1000" dirty="0"/>
          </a:p>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Used for: all code, architecture &amp; documentation</a:t>
            </a:r>
            <a:endParaRPr lang="en-US" sz="1000" dirty="0"/>
          </a:p>
        </p:txBody>
      </p:sp>
      <p:sp>
        <p:nvSpPr>
          <p:cNvPr id="11" name="Shape 9"/>
          <p:cNvSpPr/>
          <p:nvPr/>
        </p:nvSpPr>
        <p:spPr>
          <a:xfrm>
            <a:off x="3246120" y="987552"/>
            <a:ext cx="2743200" cy="1682496"/>
          </a:xfrm>
          <a:prstGeom prst="rect">
            <a:avLst/>
          </a:prstGeom>
          <a:solidFill>
            <a:srgbClr val="FFFFFF"/>
          </a:solidFill>
          <a:ln w="6350">
            <a:solidFill>
              <a:srgbClr val="CBD5E1"/>
            </a:solidFill>
            <a:prstDash val="solid"/>
          </a:ln>
          <a:effectLst>
            <a:outerShdw blurRad="101600" dist="25400" dir="8100000" algn="bl" rotWithShape="0">
              <a:srgbClr val="94A3B8">
                <a:alpha val="25000"/>
              </a:srgbClr>
            </a:outerShdw>
          </a:effectLst>
        </p:spPr>
      </p:sp>
      <p:sp>
        <p:nvSpPr>
          <p:cNvPr id="12" name="Shape 10"/>
          <p:cNvSpPr/>
          <p:nvPr/>
        </p:nvSpPr>
        <p:spPr>
          <a:xfrm>
            <a:off x="3246120" y="987552"/>
            <a:ext cx="64008" cy="1682496"/>
          </a:xfrm>
          <a:prstGeom prst="rect">
            <a:avLst/>
          </a:prstGeom>
          <a:solidFill>
            <a:srgbClr val="059669"/>
          </a:solidFill>
          <a:ln w="12700">
            <a:solidFill>
              <a:srgbClr val="059669"/>
            </a:solidFill>
            <a:prstDash val="solid"/>
          </a:ln>
        </p:spPr>
      </p:sp>
      <p:sp>
        <p:nvSpPr>
          <p:cNvPr id="13" name="Text 11"/>
          <p:cNvSpPr/>
          <p:nvPr/>
        </p:nvSpPr>
        <p:spPr>
          <a:xfrm>
            <a:off x="3429000" y="1078992"/>
            <a:ext cx="2468880" cy="310896"/>
          </a:xfrm>
          <a:prstGeom prst="rect">
            <a:avLst/>
          </a:prstGeom>
          <a:noFill/>
          <a:ln/>
        </p:spPr>
        <p:txBody>
          <a:bodyPr wrap="square" rtlCol="0" anchor="ctr"/>
          <a:lstStyle/>
          <a:p>
            <a:pPr marL="0" indent="0">
              <a:buNone/>
            </a:pPr>
            <a:r>
              <a:rPr lang="en-US" sz="1200" b="1" dirty="0">
                <a:solidFill>
                  <a:srgbClr val="059669"/>
                </a:solidFill>
                <a:latin typeface="Arial Black" pitchFamily="34" charset="0"/>
                <a:ea typeface="Arial Black" pitchFamily="34" charset="-122"/>
                <a:cs typeface="Arial Black" pitchFamily="34" charset="-120"/>
              </a:rPr>
              <a:t>Frontend &amp; Styling</a:t>
            </a:r>
            <a:endParaRPr lang="en-US" sz="1200" dirty="0"/>
          </a:p>
        </p:txBody>
      </p:sp>
      <p:sp>
        <p:nvSpPr>
          <p:cNvPr id="14" name="Text 12"/>
          <p:cNvSpPr/>
          <p:nvPr/>
        </p:nvSpPr>
        <p:spPr>
          <a:xfrm>
            <a:off x="3429000" y="1444752"/>
            <a:ext cx="2468880" cy="1133856"/>
          </a:xfrm>
          <a:prstGeom prst="rect">
            <a:avLst/>
          </a:prstGeom>
          <a:noFill/>
          <a:ln/>
        </p:spPr>
        <p:txBody>
          <a:bodyPr wrap="square" rtlCol="0" anchor="t"/>
          <a:lstStyle/>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MDN Web Docs — developer.mozilla.org</a:t>
            </a:r>
            <a:endParaRPr lang="en-US" sz="1000" dirty="0"/>
          </a:p>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Google Fonts — fonts.google.com</a:t>
            </a:r>
            <a:endParaRPr lang="en-US" sz="1000" dirty="0"/>
          </a:p>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CSS Tricks — css-tricks.com</a:t>
            </a:r>
            <a:endParaRPr lang="en-US" sz="1000" dirty="0"/>
          </a:p>
        </p:txBody>
      </p:sp>
      <p:sp>
        <p:nvSpPr>
          <p:cNvPr id="15" name="Shape 13"/>
          <p:cNvSpPr/>
          <p:nvPr/>
        </p:nvSpPr>
        <p:spPr>
          <a:xfrm>
            <a:off x="6172200" y="987552"/>
            <a:ext cx="2743200" cy="1682496"/>
          </a:xfrm>
          <a:prstGeom prst="rect">
            <a:avLst/>
          </a:prstGeom>
          <a:solidFill>
            <a:srgbClr val="FFFFFF"/>
          </a:solidFill>
          <a:ln w="6350">
            <a:solidFill>
              <a:srgbClr val="CBD5E1"/>
            </a:solidFill>
            <a:prstDash val="solid"/>
          </a:ln>
          <a:effectLst>
            <a:outerShdw blurRad="101600" dist="25400" dir="8100000" algn="bl" rotWithShape="0">
              <a:srgbClr val="94A3B8">
                <a:alpha val="25000"/>
              </a:srgbClr>
            </a:outerShdw>
          </a:effectLst>
        </p:spPr>
      </p:sp>
      <p:sp>
        <p:nvSpPr>
          <p:cNvPr id="16" name="Shape 14"/>
          <p:cNvSpPr/>
          <p:nvPr/>
        </p:nvSpPr>
        <p:spPr>
          <a:xfrm>
            <a:off x="6172200" y="987552"/>
            <a:ext cx="64008" cy="1682496"/>
          </a:xfrm>
          <a:prstGeom prst="rect">
            <a:avLst/>
          </a:prstGeom>
          <a:solidFill>
            <a:srgbClr val="EA580C"/>
          </a:solidFill>
          <a:ln w="12700">
            <a:solidFill>
              <a:srgbClr val="EA580C"/>
            </a:solidFill>
            <a:prstDash val="solid"/>
          </a:ln>
        </p:spPr>
      </p:sp>
      <p:sp>
        <p:nvSpPr>
          <p:cNvPr id="17" name="Text 15"/>
          <p:cNvSpPr/>
          <p:nvPr/>
        </p:nvSpPr>
        <p:spPr>
          <a:xfrm>
            <a:off x="6355080" y="1078992"/>
            <a:ext cx="2468880" cy="310896"/>
          </a:xfrm>
          <a:prstGeom prst="rect">
            <a:avLst/>
          </a:prstGeom>
          <a:noFill/>
          <a:ln/>
        </p:spPr>
        <p:txBody>
          <a:bodyPr wrap="square" rtlCol="0" anchor="ctr"/>
          <a:lstStyle/>
          <a:p>
            <a:pPr marL="0" indent="0">
              <a:buNone/>
            </a:pPr>
            <a:r>
              <a:rPr lang="en-US" sz="1200" b="1" dirty="0">
                <a:solidFill>
                  <a:srgbClr val="EA580C"/>
                </a:solidFill>
                <a:latin typeface="Arial Black" pitchFamily="34" charset="0"/>
                <a:ea typeface="Arial Black" pitchFamily="34" charset="-122"/>
                <a:cs typeface="Arial Black" pitchFamily="34" charset="-120"/>
              </a:rPr>
              <a:t>Backend Technologies</a:t>
            </a:r>
            <a:endParaRPr lang="en-US" sz="1200" dirty="0"/>
          </a:p>
        </p:txBody>
      </p:sp>
      <p:sp>
        <p:nvSpPr>
          <p:cNvPr id="18" name="Text 16"/>
          <p:cNvSpPr/>
          <p:nvPr/>
        </p:nvSpPr>
        <p:spPr>
          <a:xfrm>
            <a:off x="6355080" y="1444752"/>
            <a:ext cx="2468880" cy="1133856"/>
          </a:xfrm>
          <a:prstGeom prst="rect">
            <a:avLst/>
          </a:prstGeom>
          <a:noFill/>
          <a:ln/>
        </p:spPr>
        <p:txBody>
          <a:bodyPr wrap="square" rtlCol="0" anchor="t"/>
          <a:lstStyle/>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Node.js — nodejs.org</a:t>
            </a:r>
            <a:endParaRPr lang="en-US" sz="1000" dirty="0"/>
          </a:p>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Express.js — expressjs.com</a:t>
            </a:r>
            <a:endParaRPr lang="en-US" sz="1000" dirty="0"/>
          </a:p>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Socket.io — socket.io</a:t>
            </a:r>
            <a:endParaRPr lang="en-US" sz="1000" dirty="0"/>
          </a:p>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Mongoose — mongoosejs.com</a:t>
            </a:r>
            <a:endParaRPr lang="en-US" sz="1000" dirty="0"/>
          </a:p>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JWT — jwt.io</a:t>
            </a:r>
            <a:endParaRPr lang="en-US" sz="1000" dirty="0"/>
          </a:p>
        </p:txBody>
      </p:sp>
      <p:sp>
        <p:nvSpPr>
          <p:cNvPr id="19" name="Shape 17"/>
          <p:cNvSpPr/>
          <p:nvPr/>
        </p:nvSpPr>
        <p:spPr>
          <a:xfrm>
            <a:off x="320040" y="2880360"/>
            <a:ext cx="2743200" cy="1682496"/>
          </a:xfrm>
          <a:prstGeom prst="rect">
            <a:avLst/>
          </a:prstGeom>
          <a:solidFill>
            <a:srgbClr val="FFFFFF"/>
          </a:solidFill>
          <a:ln w="6350">
            <a:solidFill>
              <a:srgbClr val="CBD5E1"/>
            </a:solidFill>
            <a:prstDash val="solid"/>
          </a:ln>
          <a:effectLst>
            <a:outerShdw blurRad="101600" dist="25400" dir="8100000" algn="bl" rotWithShape="0">
              <a:srgbClr val="94A3B8">
                <a:alpha val="25000"/>
              </a:srgbClr>
            </a:outerShdw>
          </a:effectLst>
        </p:spPr>
      </p:sp>
      <p:sp>
        <p:nvSpPr>
          <p:cNvPr id="20" name="Shape 18"/>
          <p:cNvSpPr/>
          <p:nvPr/>
        </p:nvSpPr>
        <p:spPr>
          <a:xfrm>
            <a:off x="320040" y="2880360"/>
            <a:ext cx="64008" cy="1682496"/>
          </a:xfrm>
          <a:prstGeom prst="rect">
            <a:avLst/>
          </a:prstGeom>
          <a:solidFill>
            <a:srgbClr val="7C3AED"/>
          </a:solidFill>
          <a:ln w="12700">
            <a:solidFill>
              <a:srgbClr val="7C3AED"/>
            </a:solidFill>
            <a:prstDash val="solid"/>
          </a:ln>
        </p:spPr>
      </p:sp>
      <p:sp>
        <p:nvSpPr>
          <p:cNvPr id="21" name="Text 19"/>
          <p:cNvSpPr/>
          <p:nvPr/>
        </p:nvSpPr>
        <p:spPr>
          <a:xfrm>
            <a:off x="502920" y="2971800"/>
            <a:ext cx="2468880" cy="310896"/>
          </a:xfrm>
          <a:prstGeom prst="rect">
            <a:avLst/>
          </a:prstGeom>
          <a:noFill/>
          <a:ln/>
        </p:spPr>
        <p:txBody>
          <a:bodyPr wrap="square" rtlCol="0" anchor="ctr"/>
          <a:lstStyle/>
          <a:p>
            <a:pPr marL="0" indent="0">
              <a:buNone/>
            </a:pPr>
            <a:r>
              <a:rPr lang="en-US" sz="1200" b="1" dirty="0">
                <a:solidFill>
                  <a:srgbClr val="7C3AED"/>
                </a:solidFill>
                <a:latin typeface="Arial Black" pitchFamily="34" charset="0"/>
                <a:ea typeface="Arial Black" pitchFamily="34" charset="-122"/>
                <a:cs typeface="Arial Black" pitchFamily="34" charset="-120"/>
              </a:rPr>
              <a:t>Payments &amp; Maps</a:t>
            </a:r>
            <a:endParaRPr lang="en-US" sz="1200" dirty="0"/>
          </a:p>
        </p:txBody>
      </p:sp>
      <p:sp>
        <p:nvSpPr>
          <p:cNvPr id="22" name="Text 20"/>
          <p:cNvSpPr/>
          <p:nvPr/>
        </p:nvSpPr>
        <p:spPr>
          <a:xfrm>
            <a:off x="502920" y="3337560"/>
            <a:ext cx="2468880" cy="1133856"/>
          </a:xfrm>
          <a:prstGeom prst="rect">
            <a:avLst/>
          </a:prstGeom>
          <a:noFill/>
          <a:ln/>
        </p:spPr>
        <p:txBody>
          <a:bodyPr wrap="square" rtlCol="0" anchor="t"/>
          <a:lstStyle/>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Razorpay Docs — razorpay.com/docs</a:t>
            </a:r>
            <a:endParaRPr lang="en-US" sz="1000" dirty="0"/>
          </a:p>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Google Maps JS API — developers.google.com/maps</a:t>
            </a:r>
            <a:endParaRPr lang="en-US" sz="1000" dirty="0"/>
          </a:p>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Razorpay Test Mode Guide</a:t>
            </a:r>
            <a:endParaRPr lang="en-US" sz="1000" dirty="0"/>
          </a:p>
        </p:txBody>
      </p:sp>
      <p:sp>
        <p:nvSpPr>
          <p:cNvPr id="23" name="Shape 21"/>
          <p:cNvSpPr/>
          <p:nvPr/>
        </p:nvSpPr>
        <p:spPr>
          <a:xfrm>
            <a:off x="3246120" y="2880360"/>
            <a:ext cx="2743200" cy="1682496"/>
          </a:xfrm>
          <a:prstGeom prst="rect">
            <a:avLst/>
          </a:prstGeom>
          <a:solidFill>
            <a:srgbClr val="FFFFFF"/>
          </a:solidFill>
          <a:ln w="6350">
            <a:solidFill>
              <a:srgbClr val="CBD5E1"/>
            </a:solidFill>
            <a:prstDash val="solid"/>
          </a:ln>
          <a:effectLst>
            <a:outerShdw blurRad="101600" dist="25400" dir="8100000" algn="bl" rotWithShape="0">
              <a:srgbClr val="94A3B8">
                <a:alpha val="25000"/>
              </a:srgbClr>
            </a:outerShdw>
          </a:effectLst>
        </p:spPr>
      </p:sp>
      <p:sp>
        <p:nvSpPr>
          <p:cNvPr id="24" name="Shape 22"/>
          <p:cNvSpPr/>
          <p:nvPr/>
        </p:nvSpPr>
        <p:spPr>
          <a:xfrm>
            <a:off x="3246120" y="2880360"/>
            <a:ext cx="64008" cy="1682496"/>
          </a:xfrm>
          <a:prstGeom prst="rect">
            <a:avLst/>
          </a:prstGeom>
          <a:solidFill>
            <a:srgbClr val="0891B2"/>
          </a:solidFill>
          <a:ln w="12700">
            <a:solidFill>
              <a:srgbClr val="0891B2"/>
            </a:solidFill>
            <a:prstDash val="solid"/>
          </a:ln>
        </p:spPr>
      </p:sp>
      <p:sp>
        <p:nvSpPr>
          <p:cNvPr id="25" name="Text 23"/>
          <p:cNvSpPr/>
          <p:nvPr/>
        </p:nvSpPr>
        <p:spPr>
          <a:xfrm>
            <a:off x="3429000" y="2971800"/>
            <a:ext cx="2468880" cy="310896"/>
          </a:xfrm>
          <a:prstGeom prst="rect">
            <a:avLst/>
          </a:prstGeom>
          <a:noFill/>
          <a:ln/>
        </p:spPr>
        <p:txBody>
          <a:bodyPr wrap="square" rtlCol="0" anchor="ctr"/>
          <a:lstStyle/>
          <a:p>
            <a:pPr marL="0" indent="0">
              <a:buNone/>
            </a:pPr>
            <a:r>
              <a:rPr lang="en-US" sz="1200" b="1" dirty="0">
                <a:solidFill>
                  <a:srgbClr val="0891B2"/>
                </a:solidFill>
                <a:latin typeface="Arial Black" pitchFamily="34" charset="0"/>
                <a:ea typeface="Arial Black" pitchFamily="34" charset="-122"/>
                <a:cs typeface="Arial Black" pitchFamily="34" charset="-120"/>
              </a:rPr>
              <a:t>Database</a:t>
            </a:r>
            <a:endParaRPr lang="en-US" sz="1200" dirty="0"/>
          </a:p>
        </p:txBody>
      </p:sp>
      <p:sp>
        <p:nvSpPr>
          <p:cNvPr id="26" name="Text 24"/>
          <p:cNvSpPr/>
          <p:nvPr/>
        </p:nvSpPr>
        <p:spPr>
          <a:xfrm>
            <a:off x="3429000" y="3337560"/>
            <a:ext cx="2468880" cy="1133856"/>
          </a:xfrm>
          <a:prstGeom prst="rect">
            <a:avLst/>
          </a:prstGeom>
          <a:noFill/>
          <a:ln/>
        </p:spPr>
        <p:txBody>
          <a:bodyPr wrap="square" rtlCol="0" anchor="t"/>
          <a:lstStyle/>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MongoDB Atlas — mongodb.com/atlas</a:t>
            </a:r>
            <a:endParaRPr lang="en-US" sz="1000" dirty="0"/>
          </a:p>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MongoDB Compass — GUI tool</a:t>
            </a:r>
            <a:endParaRPr lang="en-US" sz="1000" dirty="0"/>
          </a:p>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Mongoose ODM — mongoosejs.com/docs</a:t>
            </a:r>
            <a:endParaRPr lang="en-US" sz="1000" dirty="0"/>
          </a:p>
        </p:txBody>
      </p:sp>
      <p:sp>
        <p:nvSpPr>
          <p:cNvPr id="27" name="Shape 25"/>
          <p:cNvSpPr/>
          <p:nvPr/>
        </p:nvSpPr>
        <p:spPr>
          <a:xfrm>
            <a:off x="6172200" y="2880360"/>
            <a:ext cx="2743200" cy="1682496"/>
          </a:xfrm>
          <a:prstGeom prst="rect">
            <a:avLst/>
          </a:prstGeom>
          <a:solidFill>
            <a:srgbClr val="FFFFFF"/>
          </a:solidFill>
          <a:ln w="6350">
            <a:solidFill>
              <a:srgbClr val="CBD5E1"/>
            </a:solidFill>
            <a:prstDash val="solid"/>
          </a:ln>
          <a:effectLst>
            <a:outerShdw blurRad="101600" dist="25400" dir="8100000" algn="bl" rotWithShape="0">
              <a:srgbClr val="94A3B8">
                <a:alpha val="25000"/>
              </a:srgbClr>
            </a:outerShdw>
          </a:effectLst>
        </p:spPr>
      </p:sp>
      <p:sp>
        <p:nvSpPr>
          <p:cNvPr id="28" name="Shape 26"/>
          <p:cNvSpPr/>
          <p:nvPr/>
        </p:nvSpPr>
        <p:spPr>
          <a:xfrm>
            <a:off x="6172200" y="2880360"/>
            <a:ext cx="64008" cy="1682496"/>
          </a:xfrm>
          <a:prstGeom prst="rect">
            <a:avLst/>
          </a:prstGeom>
          <a:solidFill>
            <a:srgbClr val="DC2626"/>
          </a:solidFill>
          <a:ln w="12700">
            <a:solidFill>
              <a:srgbClr val="DC2626"/>
            </a:solidFill>
            <a:prstDash val="solid"/>
          </a:ln>
        </p:spPr>
      </p:sp>
      <p:sp>
        <p:nvSpPr>
          <p:cNvPr id="29" name="Text 27"/>
          <p:cNvSpPr/>
          <p:nvPr/>
        </p:nvSpPr>
        <p:spPr>
          <a:xfrm>
            <a:off x="6355080" y="2971800"/>
            <a:ext cx="2468880" cy="310896"/>
          </a:xfrm>
          <a:prstGeom prst="rect">
            <a:avLst/>
          </a:prstGeom>
          <a:noFill/>
          <a:ln/>
        </p:spPr>
        <p:txBody>
          <a:bodyPr wrap="square" rtlCol="0" anchor="ctr"/>
          <a:lstStyle/>
          <a:p>
            <a:pPr marL="0" indent="0">
              <a:buNone/>
            </a:pPr>
            <a:r>
              <a:rPr lang="en-US" sz="1200" b="1" dirty="0">
                <a:solidFill>
                  <a:srgbClr val="DC2626"/>
                </a:solidFill>
                <a:latin typeface="Arial Black" pitchFamily="34" charset="0"/>
                <a:ea typeface="Arial Black" pitchFamily="34" charset="-122"/>
                <a:cs typeface="Arial Black" pitchFamily="34" charset="-120"/>
              </a:rPr>
              <a:t>Dev Tools &amp; Hosting</a:t>
            </a:r>
            <a:endParaRPr lang="en-US" sz="1200" dirty="0"/>
          </a:p>
        </p:txBody>
      </p:sp>
      <p:sp>
        <p:nvSpPr>
          <p:cNvPr id="30" name="Text 28"/>
          <p:cNvSpPr/>
          <p:nvPr/>
        </p:nvSpPr>
        <p:spPr>
          <a:xfrm>
            <a:off x="6355080" y="3337560"/>
            <a:ext cx="2468880" cy="1133856"/>
          </a:xfrm>
          <a:prstGeom prst="rect">
            <a:avLst/>
          </a:prstGeom>
          <a:noFill/>
          <a:ln/>
        </p:spPr>
        <p:txBody>
          <a:bodyPr wrap="square" rtlCol="0" anchor="t"/>
          <a:lstStyle/>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VS Code — code.visualstudio.com</a:t>
            </a:r>
            <a:endParaRPr lang="en-US" sz="1000" dirty="0"/>
          </a:p>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GitHub &amp; GitHub Pages — github.com</a:t>
            </a:r>
            <a:endParaRPr lang="en-US" sz="1000" dirty="0"/>
          </a:p>
          <a:p>
            <a:pPr marL="342900" indent="-342900">
              <a:spcAft>
                <a:spcPts val="500"/>
              </a:spcAft>
              <a:buSzPct val="100000"/>
              <a:buChar char="•"/>
            </a:pPr>
            <a:r>
              <a:rPr lang="en-US" sz="1000" dirty="0">
                <a:solidFill>
                  <a:srgbClr val="1E293B"/>
                </a:solidFill>
                <a:latin typeface="Calibri" pitchFamily="34" charset="0"/>
                <a:ea typeface="Calibri" pitchFamily="34" charset="-122"/>
                <a:cs typeface="Calibri" pitchFamily="34" charset="-120"/>
              </a:rPr>
              <a:t>Postman — postman.com  |  npm — npmjs.com</a:t>
            </a:r>
            <a:endParaRPr lang="en-US" sz="1000" dirty="0"/>
          </a:p>
        </p:txBody>
      </p:sp>
      <p:sp>
        <p:nvSpPr>
          <p:cNvPr id="31" name="Shape 29"/>
          <p:cNvSpPr/>
          <p:nvPr/>
        </p:nvSpPr>
        <p:spPr>
          <a:xfrm>
            <a:off x="320040" y="4617720"/>
            <a:ext cx="8503920" cy="274320"/>
          </a:xfrm>
          <a:prstGeom prst="rect">
            <a:avLst/>
          </a:prstGeom>
          <a:solidFill>
            <a:srgbClr val="EEF2FF"/>
          </a:solidFill>
          <a:ln w="6350">
            <a:solidFill>
              <a:srgbClr val="2563EB"/>
            </a:solidFill>
            <a:prstDash val="solid"/>
          </a:ln>
        </p:spPr>
      </p:sp>
      <p:sp>
        <p:nvSpPr>
          <p:cNvPr id="32" name="Text 30"/>
          <p:cNvSpPr/>
          <p:nvPr/>
        </p:nvSpPr>
        <p:spPr>
          <a:xfrm>
            <a:off x="457200" y="4645152"/>
            <a:ext cx="8229600" cy="219456"/>
          </a:xfrm>
          <a:prstGeom prst="rect">
            <a:avLst/>
          </a:prstGeom>
          <a:noFill/>
          <a:ln/>
        </p:spPr>
        <p:txBody>
          <a:bodyPr wrap="square" rtlCol="0" anchor="ctr"/>
          <a:lstStyle/>
          <a:p>
            <a:pPr marL="0" indent="0" algn="ctr">
              <a:buNone/>
            </a:pPr>
            <a:r>
              <a:rPr lang="en-US" sz="1000" b="1" dirty="0">
                <a:solidFill>
                  <a:srgbClr val="2563EB"/>
                </a:solidFill>
                <a:latin typeface="Calibri" pitchFamily="34" charset="0"/>
                <a:ea typeface="Calibri" pitchFamily="34" charset="-122"/>
                <a:cs typeface="Calibri" pitchFamily="34" charset="-120"/>
              </a:rPr>
              <a:t>Live Website URL:  https://jakkulasrivaishnavi.github.io/servnex  |  GitHub:  https://github.com/jakkulasrivaishnavi/servnex</a:t>
            </a:r>
            <a:endParaRPr lang="en-US" sz="1000" dirty="0"/>
          </a:p>
        </p:txBody>
      </p:sp>
      <p:sp>
        <p:nvSpPr>
          <p:cNvPr id="33" name="Shape 31"/>
          <p:cNvSpPr/>
          <p:nvPr/>
        </p:nvSpPr>
        <p:spPr>
          <a:xfrm>
            <a:off x="0" y="4956048"/>
            <a:ext cx="9144000" cy="187452"/>
          </a:xfrm>
          <a:prstGeom prst="rect">
            <a:avLst/>
          </a:prstGeom>
          <a:solidFill>
            <a:srgbClr val="E2E8F0"/>
          </a:solidFill>
          <a:ln w="12700">
            <a:solidFill>
              <a:srgbClr val="CBD5E1"/>
            </a:solidFill>
            <a:prstDash val="solid"/>
          </a:ln>
        </p:spPr>
      </p:sp>
      <p:sp>
        <p:nvSpPr>
          <p:cNvPr id="34" name="Text 32"/>
          <p:cNvSpPr/>
          <p:nvPr/>
        </p:nvSpPr>
        <p:spPr>
          <a:xfrm>
            <a:off x="320040" y="4983480"/>
            <a:ext cx="5486400" cy="13716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ServNex  —  Local Services Platform</a:t>
            </a:r>
            <a:endParaRPr lang="en-US" sz="800" dirty="0"/>
          </a:p>
        </p:txBody>
      </p:sp>
      <p:sp>
        <p:nvSpPr>
          <p:cNvPr id="35" name="Text 33"/>
          <p:cNvSpPr/>
          <p:nvPr/>
        </p:nvSpPr>
        <p:spPr>
          <a:xfrm>
            <a:off x="7772400" y="4983480"/>
            <a:ext cx="1051560" cy="137160"/>
          </a:xfrm>
          <a:prstGeom prst="rect">
            <a:avLst/>
          </a:prstGeom>
          <a:noFill/>
          <a:ln/>
        </p:spPr>
        <p:txBody>
          <a:bodyPr wrap="square"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11 / 11</a:t>
            </a:r>
            <a:endParaRPr lang="en-US" sz="800" dirty="0"/>
          </a:p>
        </p:txBody>
      </p:sp>
      <p:sp>
        <p:nvSpPr>
          <p:cNvPr id="36" name="Shape 34"/>
          <p:cNvSpPr/>
          <p:nvPr/>
        </p:nvSpPr>
        <p:spPr>
          <a:xfrm>
            <a:off x="0" y="4956048"/>
            <a:ext cx="9144000" cy="27432"/>
          </a:xfrm>
          <a:prstGeom prst="rect">
            <a:avLst/>
          </a:prstGeom>
          <a:solidFill>
            <a:srgbClr val="2563EB"/>
          </a:solidFill>
          <a:ln w="12700">
            <a:solidFill>
              <a:srgbClr val="2563EB"/>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1422</Words>
  <Application>Microsoft Office PowerPoint</Application>
  <PresentationFormat>On-screen Show (16:9)</PresentationFormat>
  <Paragraphs>223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Arial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ServNex - Local Services Platform</dc:title>
  <dc:subject>PptxGenJS Presentation</dc:subject>
  <dc:creator>PptxGenJS</dc:creator>
  <cp:lastModifiedBy>vaishnavi jakkula</cp:lastModifiedBy>
  <cp:revision>2</cp:revision>
  <dcterms:created xsi:type="dcterms:W3CDTF">2026-04-22T07:23:49Z</dcterms:created>
  <dcterms:modified xsi:type="dcterms:W3CDTF">2026-04-22T08:08:35Z</dcterms:modified>
</cp:coreProperties>
</file>